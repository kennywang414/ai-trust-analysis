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89" r:id="rId5"/>
    <p:sldId id="295" r:id="rId6"/>
    <p:sldId id="296" r:id="rId7"/>
    <p:sldId id="294" r:id="rId8"/>
    <p:sldId id="261" r:id="rId9"/>
    <p:sldId id="277" r:id="rId10"/>
    <p:sldId id="278" r:id="rId11"/>
    <p:sldId id="279" r:id="rId12"/>
    <p:sldId id="299" r:id="rId13"/>
    <p:sldId id="268" r:id="rId14"/>
    <p:sldId id="270" r:id="rId15"/>
    <p:sldId id="271" r:id="rId16"/>
    <p:sldId id="275" r:id="rId17"/>
    <p:sldId id="286" r:id="rId18"/>
    <p:sldId id="287" r:id="rId19"/>
    <p:sldId id="300" r:id="rId20"/>
    <p:sldId id="302" r:id="rId21"/>
  </p:sldIdLst>
  <p:sldSz cx="18288000" cy="10287000"/>
  <p:notesSz cx="6858000" cy="9144000"/>
  <p:embeddedFontLst>
    <p:embeddedFont>
      <p:font typeface="DM Serif Display" pitchFamily="2" charset="0"/>
      <p:regular r:id="rId23"/>
      <p:italic r:id="rId24"/>
    </p:embeddedFont>
    <p:embeddedFont>
      <p:font typeface="Open Sauce" panose="020B0604020202020204" charset="0"/>
      <p:regular r:id="rId25"/>
    </p:embeddedFont>
    <p:embeddedFont>
      <p:font typeface="Open Sauce Bold" panose="020B060402020202020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&amp; Intro" id="{D1FF1D05-292F-6546-8D9B-463AFBA2FBF1}">
          <p14:sldIdLst>
            <p14:sldId id="256"/>
            <p14:sldId id="258"/>
            <p14:sldId id="259"/>
          </p14:sldIdLst>
        </p14:section>
        <p14:section name="National Level" id="{76F524F2-0AF2-8146-8013-78DB5E2E7756}">
          <p14:sldIdLst>
            <p14:sldId id="289"/>
            <p14:sldId id="295"/>
            <p14:sldId id="296"/>
            <p14:sldId id="294"/>
          </p14:sldIdLst>
        </p14:section>
        <p14:section name="Individual Level" id="{568B4FC9-3864-B643-A2D0-FCC159BA72B1}">
          <p14:sldIdLst>
            <p14:sldId id="261"/>
            <p14:sldId id="277"/>
            <p14:sldId id="278"/>
            <p14:sldId id="279"/>
            <p14:sldId id="299"/>
          </p14:sldIdLst>
        </p14:section>
        <p14:section name="Trust Loss" id="{5D7C9135-C9A8-0E4C-A0BE-FBA31171F180}">
          <p14:sldIdLst>
            <p14:sldId id="268"/>
            <p14:sldId id="270"/>
            <p14:sldId id="271"/>
            <p14:sldId id="275"/>
          </p14:sldIdLst>
        </p14:section>
        <p14:section name="Solution" id="{F83C79D5-8E49-4886-85AC-262E894C3B0A}">
          <p14:sldIdLst>
            <p14:sldId id="286"/>
            <p14:sldId id="287"/>
            <p14:sldId id="300"/>
          </p14:sldIdLst>
        </p14:section>
        <p14:section name="Conclusion" id="{24DBD89E-1DCE-D44D-9F74-1E8BDDEE5225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F9AF20-DE0B-65B6-6213-0B8512BFBF15}" name="Triston Cheong" initials="TC" userId="1d2009ba0785b5a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530B"/>
    <a:srgbClr val="7F7F7F"/>
    <a:srgbClr val="A8A140"/>
    <a:srgbClr val="C06E6E"/>
    <a:srgbClr val="6FBF73"/>
    <a:srgbClr val="FFCDCD"/>
    <a:srgbClr val="F6D38B"/>
    <a:srgbClr val="677759"/>
    <a:srgbClr val="99BB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84B36-7927-8D98-F28F-B1634F208BCB}" v="2" dt="2026-10-13T10:11:15.461"/>
    <p1510:client id="{0F65F894-78FD-529D-2AE4-039419DB72B2}" v="26" dt="2026-10-13T10:41:11.385"/>
    <p1510:client id="{1BDD6325-EFC9-5974-4C26-257FDB471F9B}" v="207" dt="2026-10-13T09:30:05.767"/>
    <p1510:client id="{24BB436B-FD57-7D02-1ED7-2B893B707E90}" v="16" dt="2026-10-14T04:29:02.532"/>
    <p1510:client id="{418EDA77-897E-D402-E4C1-B8411554BB3A}" v="74" dt="2026-10-14T05:44:57.862"/>
    <p1510:client id="{540C7E63-D59F-4E94-9CB2-4DF3A20333E8}" v="3183" dt="2026-10-14T05:42:01.649"/>
    <p1510:client id="{70B48E61-7101-6D59-4695-90459F8020EF}" v="11" dt="2026-10-13T12:26:23.716"/>
    <p1510:client id="{7447075E-21FD-E812-6381-5FEB262D835E}" v="210" dt="2026-10-13T10:08:31.781"/>
    <p1510:client id="{FCC20C98-5E0A-E219-825D-4C7BF373E567}" v="13" dt="2026-10-13T12:33:15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31" autoAdjust="0"/>
  </p:normalViewPr>
  <p:slideViewPr>
    <p:cSldViewPr snapToGrid="0">
      <p:cViewPr varScale="1">
        <p:scale>
          <a:sx n="50" d="100"/>
          <a:sy n="50" d="100"/>
        </p:scale>
        <p:origin x="708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n Lertsattha" userId="7cb8464128839c4a" providerId="LiveId" clId="{4307651A-794B-4EFB-B855-182E51C497B0}"/>
    <pc:docChg chg="delSld modSld delSection modSection">
      <pc:chgData name="Kavin Lertsattha" userId="7cb8464128839c4a" providerId="LiveId" clId="{4307651A-794B-4EFB-B855-182E51C497B0}" dt="2026-10-14T07:31:22.771" v="17" actId="20577"/>
      <pc:docMkLst>
        <pc:docMk/>
      </pc:docMkLst>
      <pc:sldChg chg="modNotesTx">
        <pc:chgData name="Kavin Lertsattha" userId="7cb8464128839c4a" providerId="LiveId" clId="{4307651A-794B-4EFB-B855-182E51C497B0}" dt="2026-10-14T07:28:56.202" v="2" actId="20577"/>
        <pc:sldMkLst>
          <pc:docMk/>
          <pc:sldMk cId="0" sldId="256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0" sldId="257"/>
        </pc:sldMkLst>
      </pc:sldChg>
      <pc:sldChg chg="modNotesTx">
        <pc:chgData name="Kavin Lertsattha" userId="7cb8464128839c4a" providerId="LiveId" clId="{4307651A-794B-4EFB-B855-182E51C497B0}" dt="2026-10-14T07:28:58.354" v="3" actId="20577"/>
        <pc:sldMkLst>
          <pc:docMk/>
          <pc:sldMk cId="0" sldId="258"/>
        </pc:sldMkLst>
      </pc:sldChg>
      <pc:sldChg chg="modNotesTx">
        <pc:chgData name="Kavin Lertsattha" userId="7cb8464128839c4a" providerId="LiveId" clId="{4307651A-794B-4EFB-B855-182E51C497B0}" dt="2026-10-14T07:29:00.200" v="4" actId="20577"/>
        <pc:sldMkLst>
          <pc:docMk/>
          <pc:sldMk cId="0" sldId="259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0" sldId="260"/>
        </pc:sldMkLst>
      </pc:sldChg>
      <pc:sldChg chg="modNotesTx">
        <pc:chgData name="Kavin Lertsattha" userId="7cb8464128839c4a" providerId="LiveId" clId="{4307651A-794B-4EFB-B855-182E51C497B0}" dt="2026-10-14T07:29:09.968" v="9" actId="20577"/>
        <pc:sldMkLst>
          <pc:docMk/>
          <pc:sldMk cId="1105442778" sldId="261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0" sldId="262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0" sldId="263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0" sldId="267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470604119" sldId="273"/>
        </pc:sldMkLst>
      </pc:sldChg>
      <pc:sldChg chg="modNotesTx">
        <pc:chgData name="Kavin Lertsattha" userId="7cb8464128839c4a" providerId="LiveId" clId="{4307651A-794B-4EFB-B855-182E51C497B0}" dt="2026-10-14T07:29:12.202" v="10" actId="20577"/>
        <pc:sldMkLst>
          <pc:docMk/>
          <pc:sldMk cId="0" sldId="277"/>
        </pc:sldMkLst>
      </pc:sldChg>
      <pc:sldChg chg="modNotesTx">
        <pc:chgData name="Kavin Lertsattha" userId="7cb8464128839c4a" providerId="LiveId" clId="{4307651A-794B-4EFB-B855-182E51C497B0}" dt="2026-10-14T07:29:13.941" v="11" actId="20577"/>
        <pc:sldMkLst>
          <pc:docMk/>
          <pc:sldMk cId="3255393236" sldId="278"/>
        </pc:sldMkLst>
      </pc:sldChg>
      <pc:sldChg chg="modNotesTx">
        <pc:chgData name="Kavin Lertsattha" userId="7cb8464128839c4a" providerId="LiveId" clId="{4307651A-794B-4EFB-B855-182E51C497B0}" dt="2026-10-14T07:29:15.564" v="12" actId="20577"/>
        <pc:sldMkLst>
          <pc:docMk/>
          <pc:sldMk cId="3822508105" sldId="279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3854376936" sldId="281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1366130246" sldId="285"/>
        </pc:sldMkLst>
      </pc:sldChg>
      <pc:sldChg chg="modNotesTx">
        <pc:chgData name="Kavin Lertsattha" userId="7cb8464128839c4a" providerId="LiveId" clId="{4307651A-794B-4EFB-B855-182E51C497B0}" dt="2026-10-14T07:29:22.322" v="14" actId="20577"/>
        <pc:sldMkLst>
          <pc:docMk/>
          <pc:sldMk cId="1281448903" sldId="286"/>
        </pc:sldMkLst>
      </pc:sldChg>
      <pc:sldChg chg="modNotesTx">
        <pc:chgData name="Kavin Lertsattha" userId="7cb8464128839c4a" providerId="LiveId" clId="{4307651A-794B-4EFB-B855-182E51C497B0}" dt="2026-10-14T07:29:24.523" v="15" actId="20577"/>
        <pc:sldMkLst>
          <pc:docMk/>
          <pc:sldMk cId="143577864" sldId="287"/>
        </pc:sldMkLst>
      </pc:sldChg>
      <pc:sldChg chg="modNotesTx">
        <pc:chgData name="Kavin Lertsattha" userId="7cb8464128839c4a" providerId="LiveId" clId="{4307651A-794B-4EFB-B855-182E51C497B0}" dt="2026-10-14T07:29:01.903" v="5" actId="20577"/>
        <pc:sldMkLst>
          <pc:docMk/>
          <pc:sldMk cId="0" sldId="289"/>
        </pc:sldMkLst>
      </pc:sldChg>
      <pc:sldChg chg="modNotesTx">
        <pc:chgData name="Kavin Lertsattha" userId="7cb8464128839c4a" providerId="LiveId" clId="{4307651A-794B-4EFB-B855-182E51C497B0}" dt="2026-10-14T07:29:07.716" v="8" actId="20577"/>
        <pc:sldMkLst>
          <pc:docMk/>
          <pc:sldMk cId="0" sldId="294"/>
        </pc:sldMkLst>
      </pc:sldChg>
      <pc:sldChg chg="modNotesTx">
        <pc:chgData name="Kavin Lertsattha" userId="7cb8464128839c4a" providerId="LiveId" clId="{4307651A-794B-4EFB-B855-182E51C497B0}" dt="2026-10-14T07:29:04.039" v="6" actId="20577"/>
        <pc:sldMkLst>
          <pc:docMk/>
          <pc:sldMk cId="0" sldId="295"/>
        </pc:sldMkLst>
      </pc:sldChg>
      <pc:sldChg chg="modNotesTx">
        <pc:chgData name="Kavin Lertsattha" userId="7cb8464128839c4a" providerId="LiveId" clId="{4307651A-794B-4EFB-B855-182E51C497B0}" dt="2026-10-14T07:29:05.651" v="7" actId="20577"/>
        <pc:sldMkLst>
          <pc:docMk/>
          <pc:sldMk cId="0" sldId="296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45908466" sldId="297"/>
        </pc:sldMkLst>
      </pc:sldChg>
      <pc:sldChg chg="modNotesTx">
        <pc:chgData name="Kavin Lertsattha" userId="7cb8464128839c4a" providerId="LiveId" clId="{4307651A-794B-4EFB-B855-182E51C497B0}" dt="2026-10-14T07:29:17.399" v="13" actId="20577"/>
        <pc:sldMkLst>
          <pc:docMk/>
          <pc:sldMk cId="524666357" sldId="299"/>
        </pc:sldMkLst>
      </pc:sldChg>
      <pc:sldChg chg="modNotesTx">
        <pc:chgData name="Kavin Lertsattha" userId="7cb8464128839c4a" providerId="LiveId" clId="{4307651A-794B-4EFB-B855-182E51C497B0}" dt="2026-10-14T07:29:27.074" v="16" actId="20577"/>
        <pc:sldMkLst>
          <pc:docMk/>
          <pc:sldMk cId="1513682079" sldId="300"/>
        </pc:sldMkLst>
      </pc:sldChg>
      <pc:sldChg chg="del">
        <pc:chgData name="Kavin Lertsattha" userId="7cb8464128839c4a" providerId="LiveId" clId="{4307651A-794B-4EFB-B855-182E51C497B0}" dt="2026-10-14T07:28:46.931" v="0" actId="47"/>
        <pc:sldMkLst>
          <pc:docMk/>
          <pc:sldMk cId="969356059" sldId="301"/>
        </pc:sldMkLst>
      </pc:sldChg>
      <pc:sldChg chg="modNotesTx">
        <pc:chgData name="Kavin Lertsattha" userId="7cb8464128839c4a" providerId="LiveId" clId="{4307651A-794B-4EFB-B855-182E51C497B0}" dt="2026-10-14T07:31:22.771" v="17" actId="20577"/>
        <pc:sldMkLst>
          <pc:docMk/>
          <pc:sldMk cId="438778809" sldId="30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respondents</c:v>
                </c:pt>
              </c:strCache>
            </c:strRef>
          </c:tx>
          <c:spPr>
            <a:solidFill>
              <a:srgbClr val="000000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600" b="1">
                    <a:latin typeface="Open Sauc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Use AI regularly</c:v>
                </c:pt>
                <c:pt idx="1">
                  <c:v>Willing to trust AI</c:v>
                </c:pt>
                <c:pt idx="2">
                  <c:v>Received any AI training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</c:v>
                </c:pt>
                <c:pt idx="1">
                  <c:v>0.46</c:v>
                </c:pt>
                <c:pt idx="2">
                  <c:v>0.39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B56-4CE9-BE68-B905A4CA3D1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2000">
                <a:latin typeface="Open Sauce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2000">
          <a:latin typeface="Open Sauce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E82CE-9A9A-6B4E-A77E-CF76C990023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73FCE-9A01-C546-8E39-604B1FD54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4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rtl="0"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73FCE-9A01-C546-8E39-604B1FD540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17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rtl="0"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73FCE-9A01-C546-8E39-604B1FD540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04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rtl="0"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73FCE-9A01-C546-8E39-604B1FD540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61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rtl="0"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73FCE-9A01-C546-8E39-604B1FD540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06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FC53-09C3-4F88-D2D1-C3936979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05781-48CB-D1F7-B2E5-EDB9C40C4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FC987-CA5E-3836-A9C8-5B23C4480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rtl="0"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5B64F-0475-8B59-146B-2DC840130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73FCE-9A01-C546-8E39-604B1FD540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73FCE-9A01-C546-8E39-604B1FD540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66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73FCE-9A01-C546-8E39-604B1FD540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10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31720"/>
            <a:ext cx="155448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SG" sz="120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Exploring Trust 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434840"/>
            <a:ext cx="155448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SG" sz="2200" b="1" i="0" spc="22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MULTILEVEL ANALYSIS OF INFLUENCING FACTORS,</a:t>
            </a:r>
            <a:endParaRPr lang="en-US" b="1">
              <a:ea typeface="Calibri"/>
              <a:cs typeface="Calibri"/>
            </a:endParaRPr>
          </a:p>
          <a:p>
            <a:pPr algn="ctr">
              <a:lnSpc>
                <a:spcPct val="125000"/>
              </a:lnSpc>
            </a:pPr>
            <a:r>
              <a:rPr lang="en-SG" sz="2200" b="1" i="0" spc="22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TRUST EROSION AND TRUST CALIBRATION STRATEGIES</a:t>
            </a:r>
            <a:endParaRPr lang="en-SG" sz="2200" b="1" i="0" spc="22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0" y="8001000"/>
            <a:ext cx="12801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SG" sz="3000" i="0">
                <a:solidFill>
                  <a:srgbClr val="5A5A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AN6002 Analytics &amp; Machine Learning in Business · Group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8778240"/>
            <a:ext cx="1463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SG" sz="1600" i="0" spc="159">
                <a:solidFill>
                  <a:srgbClr val="767574"/>
                </a:solidFill>
                <a:latin typeface="Open Sauce"/>
                <a:ea typeface="Open Sauce"/>
                <a:cs typeface="Open Sauce"/>
                <a:sym typeface="Open Sauce"/>
              </a:rPr>
              <a:t>WANG GAOYANG  ·  KAVIN LERTSATTHA  ·  TRISTON CHEONG  ·  TIMOTHY 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  <p:sp>
        <p:nvSpPr>
          <p:cNvPr id="4" name="Title"/>
          <p:cNvSpPr txBox="1"/>
          <p:nvPr/>
        </p:nvSpPr>
        <p:spPr>
          <a:xfrm>
            <a:off x="1166774" y="1234440"/>
            <a:ext cx="15947136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64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AI Trust Problem</a:t>
            </a:r>
          </a:p>
          <a:p>
            <a:endParaRPr lang="en-US" sz="6400">
              <a:solidFill>
                <a:srgbClr val="000000"/>
              </a:solidFill>
              <a:latin typeface="DM Serif Display"/>
              <a:ea typeface="DM Serif Display"/>
              <a:cs typeface="DM Serif Display"/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1166774" y="9144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i="0" spc="159">
                <a:solidFill>
                  <a:srgbClr val="767574"/>
                </a:solidFill>
                <a:latin typeface="Open Sauce"/>
                <a:ea typeface="Open Sauce"/>
                <a:cs typeface="Open Sauce"/>
                <a:sym typeface="Open Sauce"/>
              </a:rPr>
              <a:t>PRESENTED BY WANG GAOYANG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0280" y="9144000"/>
            <a:ext cx="3447288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fld id="{B6F15528-21DE-4FAA-801E-634DDDAF4B2B}" type="slidenum">
              <a:rPr lang="en-US" sz="1599">
                <a:solidFill>
                  <a:srgbClr val="767574"/>
                </a:solidFill>
                <a:latin typeface="Open Sauce"/>
                <a:ea typeface="Open Sauce"/>
                <a:cs typeface="Open Sauce"/>
              </a:rPr>
              <a:t>2</a:t>
            </a:fld>
            <a:endParaRPr lang="en-US" sz="1599">
              <a:solidFill>
                <a:srgbClr val="767574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6774" y="2331720"/>
            <a:ext cx="159471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SG" sz="24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Global study, 2025: </a:t>
            </a:r>
            <a:r>
              <a:rPr lang="en-SG" sz="2400">
                <a:solidFill>
                  <a:srgbClr val="000000"/>
                </a:solidFill>
                <a:latin typeface="Open Sauce"/>
                <a:ea typeface="Open Sauce Bold"/>
                <a:cs typeface="Open Sauce Bold"/>
                <a:sym typeface="Open Sauce"/>
              </a:rPr>
              <a:t>48,340</a:t>
            </a:r>
            <a:r>
              <a:rPr lang="en-SG" sz="24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people in 47 countries. </a:t>
            </a:r>
            <a:r>
              <a:rPr lang="en-SG" sz="24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 is high, but trust is often unchecked.</a:t>
            </a:r>
            <a:endParaRPr lang="en-SG" sz="24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66774" y="3063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SG" sz="14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ALL RESPONDENTS</a:t>
            </a:r>
            <a:endParaRPr lang="en-SG" sz="14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graphicFrame>
        <p:nvGraphicFramePr>
          <p:cNvPr id="9" name="Chart: use vs trust vs train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6497"/>
              </p:ext>
            </p:extLst>
          </p:nvPr>
        </p:nvGraphicFramePr>
        <p:xfrm>
          <a:off x="914400" y="3407434"/>
          <a:ext cx="8741146" cy="4022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9870919" y="3662488"/>
            <a:ext cx="0" cy="3520440"/>
          </a:xfrm>
          <a:prstGeom prst="line">
            <a:avLst/>
          </a:prstGeom>
          <a:ln w="15875">
            <a:solidFill>
              <a:srgbClr val="B5B5B5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10378440" y="3063240"/>
            <a:ext cx="67391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AMONG EMPLOYEES WHO USE AI AT WORK</a:t>
            </a:r>
            <a:endParaRPr lang="en-US" sz="14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78440" y="3474720"/>
            <a:ext cx="673912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SG" sz="60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Two in three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4434840"/>
            <a:ext cx="67391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SG" sz="22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rely on AI output without checking its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120640"/>
            <a:ext cx="673912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8440" y="6080760"/>
            <a:ext cx="67391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have made mistakes in their work because of AI</a:t>
            </a:r>
          </a:p>
        </p:txBody>
      </p:sp>
      <p:sp>
        <p:nvSpPr>
          <p:cNvPr id="19" name="Sources"/>
          <p:cNvSpPr txBox="1"/>
          <p:nvPr/>
        </p:nvSpPr>
        <p:spPr>
          <a:xfrm>
            <a:off x="1166774" y="8613648"/>
            <a:ext cx="1594713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SG" sz="1300" i="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Sources: Gillespie et al. (2025), KPMG &amp; University of Melbourne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566"/>
            <a:ext cx="18288000" cy="10287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  <p:sp>
        <p:nvSpPr>
          <p:cNvPr id="4" name="Title"/>
          <p:cNvSpPr txBox="1"/>
          <p:nvPr/>
        </p:nvSpPr>
        <p:spPr>
          <a:xfrm>
            <a:off x="1166774" y="1234440"/>
            <a:ext cx="15947136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4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Calibrated Trust, Not More Trust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166774" y="9144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i="0" spc="159">
                <a:solidFill>
                  <a:srgbClr val="767574"/>
                </a:solidFill>
                <a:latin typeface="Open Sauce"/>
                <a:ea typeface="Open Sauce"/>
                <a:cs typeface="Open Sauce"/>
                <a:sym typeface="Open Sauce"/>
              </a:rPr>
              <a:t>PRESENTED BY WANG GAOYANG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13670280" y="9144000"/>
            <a:ext cx="3447288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fld id="{B6F15528-21DE-4FAA-801E-634DDDAF4B2B}" type="slidenum">
              <a:rPr lang="en-US" sz="1599">
                <a:solidFill>
                  <a:srgbClr val="767574"/>
                </a:solidFill>
                <a:latin typeface="Open Sauce"/>
                <a:ea typeface="Open Sauce"/>
                <a:cs typeface="Open Sauce"/>
              </a:rPr>
              <a:t>3</a:t>
            </a:fld>
            <a:endParaRPr lang="en-US" sz="1599">
              <a:solidFill>
                <a:srgbClr val="767574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66774" y="2514600"/>
            <a:ext cx="4480560" cy="1965960"/>
          </a:xfrm>
          <a:prstGeom prst="roundRect">
            <a:avLst>
              <a:gd name="adj" fmla="val 18604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77102" y="2514600"/>
            <a:ext cx="5943600" cy="1965960"/>
          </a:xfrm>
          <a:prstGeom prst="roundRect">
            <a:avLst>
              <a:gd name="adj" fmla="val 18604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450470" y="2514600"/>
            <a:ext cx="4663440" cy="1965960"/>
          </a:xfrm>
          <a:prstGeom prst="roundRect">
            <a:avLst>
              <a:gd name="adj" fmla="val 18604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32534" y="2834640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Under-trust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2534" y="3474720"/>
            <a:ext cx="3749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Rejects useful tools and loses their 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2862" y="283464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i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Calibrated trust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442862" y="347472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SG" sz="2000" i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Relies on AI where it is reliable, questions it where it is not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2816230" y="283464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SG" sz="30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Over-trust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16230" y="347472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SG" sz="20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Accepts wrong outputs without checking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3497580"/>
            <a:ext cx="301752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 flipH="1">
            <a:off x="12079224" y="3497580"/>
            <a:ext cx="301752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1166774" y="51206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SG" sz="26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</a:t>
            </a:r>
            <a:r>
              <a:rPr lang="en-SG" sz="2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</a:t>
            </a:r>
            <a:r>
              <a:rPr lang="en-SG" sz="26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SG" sz="2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Questions</a:t>
            </a:r>
            <a:endParaRPr lang="en-SG" sz="2600" i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9" name="Oval 18"/>
          <p:cNvSpPr>
            <a:spLocks/>
          </p:cNvSpPr>
          <p:nvPr/>
        </p:nvSpPr>
        <p:spPr>
          <a:xfrm>
            <a:off x="1166774" y="5897880"/>
            <a:ext cx="822960" cy="822960"/>
          </a:xfrm>
          <a:prstGeom prst="ellipse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wrap="square" lIns="0" rIns="0" rtlCol="0" anchor="ctr"/>
          <a:lstStyle/>
          <a:p>
            <a:pPr algn="ctr"/>
            <a:r>
              <a:rPr lang="en-SG" sz="30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4054" y="5852160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999"/>
              </a:lnSpc>
            </a:pPr>
            <a:r>
              <a:rPr lang="en-US" sz="2400" b="1">
                <a:solidFill>
                  <a:srgbClr val="000000"/>
                </a:solidFill>
                <a:latin typeface="Open Sauce Bold"/>
              </a:rPr>
              <a:t>What leads someone to trust AI in the first place?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2264054" y="6812280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</a:pPr>
            <a:r>
              <a:rPr lang="en-SG" sz="1800" i="0">
                <a:solidFill>
                  <a:srgbClr val="595959"/>
                </a:solidFill>
                <a:latin typeface="Open Sauce"/>
                <a:ea typeface="Open Sauce"/>
                <a:cs typeface="Open Sauce"/>
                <a:sym typeface="Open Sauce"/>
              </a:rPr>
              <a:t>Country level </a:t>
            </a:r>
            <a:r>
              <a:rPr lang="en-SG">
                <a:solidFill>
                  <a:srgbClr val="595959"/>
                </a:solidFill>
                <a:latin typeface="Open Sauce"/>
                <a:ea typeface="Open Sauce"/>
                <a:cs typeface="Open Sauce"/>
                <a:sym typeface="Open Sauce"/>
              </a:rPr>
              <a:t> </a:t>
            </a:r>
            <a:r>
              <a:rPr lang="en-SG" sz="1800" i="0">
                <a:solidFill>
                  <a:srgbClr val="595959"/>
                </a:solidFill>
                <a:latin typeface="Open Sauce"/>
                <a:ea typeface="Open Sauce"/>
                <a:cs typeface="Open Sauce"/>
                <a:sym typeface="Open Sauce"/>
              </a:rPr>
              <a:t>· Individual level</a:t>
            </a:r>
          </a:p>
        </p:txBody>
      </p:sp>
      <p:sp>
        <p:nvSpPr>
          <p:cNvPr id="22" name="Oval 21"/>
          <p:cNvSpPr/>
          <p:nvPr/>
        </p:nvSpPr>
        <p:spPr>
          <a:xfrm>
            <a:off x="6561734" y="5897880"/>
            <a:ext cx="822960" cy="822960"/>
          </a:xfrm>
          <a:prstGeom prst="ellipse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wrap="square" lIns="0" rIns="0" rtlCol="0" anchor="ctr"/>
          <a:lstStyle/>
          <a:p>
            <a:pPr algn="ctr"/>
            <a:r>
              <a:rPr sz="30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9014" y="5852160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does trust change after AI fails?</a:t>
            </a:r>
            <a:endParaRPr lang="en-US" sz="2400" b="1" i="0">
              <a:solidFill>
                <a:srgbClr val="000000"/>
              </a:solidFill>
              <a:latin typeface="Open Sauce Bold"/>
              <a:ea typeface="Open Sauce Bold"/>
              <a:cs typeface="Open Sauce 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59014" y="6812280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i="0">
                <a:solidFill>
                  <a:srgbClr val="595959"/>
                </a:solidFill>
                <a:latin typeface="Open Sauce"/>
                <a:ea typeface="Open Sauce"/>
                <a:cs typeface="Open Sauce"/>
                <a:sym typeface="Open Sauce"/>
              </a:rPr>
              <a:t>Trust loss and recovery</a:t>
            </a:r>
          </a:p>
        </p:txBody>
      </p:sp>
      <p:sp>
        <p:nvSpPr>
          <p:cNvPr id="25" name="Oval 24"/>
          <p:cNvSpPr/>
          <p:nvPr/>
        </p:nvSpPr>
        <p:spPr>
          <a:xfrm>
            <a:off x="11956694" y="5897880"/>
            <a:ext cx="822960" cy="822960"/>
          </a:xfrm>
          <a:prstGeom prst="ellipse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wrap="square" lIns="0" rIns="0" rtlCol="0" anchor="ctr"/>
          <a:lstStyle/>
          <a:p>
            <a:pPr algn="ctr"/>
            <a:r>
              <a:rPr sz="30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53974" y="6039066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can be done?</a:t>
            </a:r>
            <a:endParaRPr lang="en-US" sz="2400" b="1" i="0">
              <a:solidFill>
                <a:srgbClr val="000000"/>
              </a:solidFill>
              <a:latin typeface="Open Sauce Bold"/>
              <a:ea typeface="Open Sauce Bold"/>
              <a:cs typeface="Open Sauce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053974" y="6812280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i="0">
                <a:solidFill>
                  <a:srgbClr val="595959"/>
                </a:solidFill>
                <a:latin typeface="Open Sauce"/>
                <a:ea typeface="Open Sauce"/>
                <a:cs typeface="Open Sauce"/>
                <a:sym typeface="Open Sauce"/>
              </a:rPr>
              <a:t>Proposed solutions to calibrate trust</a:t>
            </a:r>
          </a:p>
        </p:txBody>
      </p:sp>
      <p:sp>
        <p:nvSpPr>
          <p:cNvPr id="28" name="Sources"/>
          <p:cNvSpPr txBox="1"/>
          <p:nvPr/>
        </p:nvSpPr>
        <p:spPr>
          <a:xfrm>
            <a:off x="1166774" y="8613648"/>
            <a:ext cx="1594713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i="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Calibration framing: Jacovi et al. (2021), ACM FAccT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e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432" y="1231567"/>
            <a:ext cx="16276320" cy="975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400">
                <a:solidFill>
                  <a:srgbClr val="000000"/>
                </a:solidFill>
                <a:latin typeface="DM Serif Display"/>
              </a:rPr>
              <a:t>Purpose and Methodology</a:t>
            </a:r>
            <a:endParaRPr sz="6400">
              <a:solidFill>
                <a:srgbClr val="000000"/>
              </a:solidFill>
              <a:latin typeface="DM Serif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2324100"/>
            <a:ext cx="15819120" cy="16773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4000" b="1">
                <a:solidFill>
                  <a:srgbClr val="2C2C2C"/>
                </a:solidFill>
                <a:latin typeface="Aptos"/>
              </a:rPr>
              <a:t>Goal: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2C2C2C"/>
                </a:solidFill>
                <a:latin typeface="Aptos"/>
              </a:rPr>
              <a:t>Understand national level factors that may influence AI trust and assess whether machine learning models can reliably predict national trust levels</a:t>
            </a:r>
            <a:endParaRPr sz="3200" b="1">
              <a:solidFill>
                <a:srgbClr val="2C2C2C"/>
              </a:solidFill>
              <a:latin typeface="Apto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A630ADE-5C11-0828-27B1-B8ED49AD0280}"/>
              </a:ext>
            </a:extLst>
          </p:cNvPr>
          <p:cNvGrpSpPr/>
          <p:nvPr/>
        </p:nvGrpSpPr>
        <p:grpSpPr>
          <a:xfrm>
            <a:off x="1188720" y="4152901"/>
            <a:ext cx="5056632" cy="1565512"/>
            <a:chOff x="1188720" y="4152901"/>
            <a:chExt cx="5056632" cy="1565512"/>
          </a:xfrm>
        </p:grpSpPr>
        <p:sp>
          <p:nvSpPr>
            <p:cNvPr id="10" name="Rectangle 9"/>
            <p:cNvSpPr/>
            <p:nvPr/>
          </p:nvSpPr>
          <p:spPr>
            <a:xfrm>
              <a:off x="1188720" y="4152901"/>
              <a:ext cx="5056632" cy="1565512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80744" y="4204521"/>
              <a:ext cx="585216" cy="6268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000" b="1">
                  <a:solidFill>
                    <a:srgbClr val="121212"/>
                  </a:solidFill>
                  <a:latin typeface="Aptos"/>
                </a:rPr>
                <a:t>01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30552" y="4320804"/>
              <a:ext cx="3840480" cy="3134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>
                  <a:solidFill>
                    <a:srgbClr val="121212"/>
                  </a:solidFill>
                  <a:latin typeface="Aptos"/>
                </a:rPr>
                <a:t>IMPLEMENT</a:t>
              </a:r>
              <a:endParaRPr sz="2000" b="1">
                <a:solidFill>
                  <a:srgbClr val="121212"/>
                </a:solidFill>
                <a:latin typeface="Apto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30552" y="4719828"/>
              <a:ext cx="3767328" cy="94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>
                  <a:solidFill>
                    <a:srgbClr val="2C2C2C"/>
                  </a:solidFill>
                  <a:latin typeface="Aptos"/>
                </a:rPr>
                <a:t>Evaluate and optimize machine learning models to predict AI Trust Percentage</a:t>
              </a:r>
              <a:endParaRPr sz="2000" b="0">
                <a:solidFill>
                  <a:srgbClr val="2C2C2C"/>
                </a:solidFill>
                <a:latin typeface="Apto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4A8E8B9-AEA7-ACEB-B249-8C677BC3F0F6}"/>
              </a:ext>
            </a:extLst>
          </p:cNvPr>
          <p:cNvGrpSpPr/>
          <p:nvPr/>
        </p:nvGrpSpPr>
        <p:grpSpPr>
          <a:xfrm>
            <a:off x="6409944" y="4160155"/>
            <a:ext cx="5312664" cy="1565512"/>
            <a:chOff x="6409944" y="4160155"/>
            <a:chExt cx="5312664" cy="1565512"/>
          </a:xfrm>
        </p:grpSpPr>
        <p:sp>
          <p:nvSpPr>
            <p:cNvPr id="14" name="Rectangle 13"/>
            <p:cNvSpPr/>
            <p:nvPr/>
          </p:nvSpPr>
          <p:spPr>
            <a:xfrm>
              <a:off x="6409944" y="4160155"/>
              <a:ext cx="5312664" cy="1565512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24828" y="4204521"/>
              <a:ext cx="585216" cy="6268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000" b="1">
                  <a:solidFill>
                    <a:srgbClr val="121212"/>
                  </a:solidFill>
                  <a:latin typeface="Aptos"/>
                </a:rPr>
                <a:t>02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479792" y="4320803"/>
              <a:ext cx="3840480" cy="3134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>
                  <a:solidFill>
                    <a:srgbClr val="121212"/>
                  </a:solidFill>
                  <a:latin typeface="Aptos"/>
                </a:rPr>
                <a:t>PREDICT</a:t>
              </a:r>
              <a:endParaRPr sz="2000" b="1">
                <a:solidFill>
                  <a:srgbClr val="121212"/>
                </a:solidFill>
                <a:latin typeface="Apto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79792" y="4719828"/>
              <a:ext cx="3767328" cy="94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>
                  <a:solidFill>
                    <a:srgbClr val="2C2C2C"/>
                  </a:solidFill>
                  <a:latin typeface="Aptos"/>
                </a:rPr>
                <a:t>Train the final model with labelled dataset and apply to unlabeled dataset</a:t>
              </a:r>
              <a:endParaRPr sz="2000" b="0">
                <a:solidFill>
                  <a:srgbClr val="2C2C2C"/>
                </a:solidFill>
                <a:latin typeface="Apto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8C72E0-ECDD-008F-A9D9-20528F034923}"/>
              </a:ext>
            </a:extLst>
          </p:cNvPr>
          <p:cNvGrpSpPr/>
          <p:nvPr/>
        </p:nvGrpSpPr>
        <p:grpSpPr>
          <a:xfrm>
            <a:off x="11887200" y="4152900"/>
            <a:ext cx="5056632" cy="1572767"/>
            <a:chOff x="11887200" y="4152900"/>
            <a:chExt cx="5056632" cy="1572767"/>
          </a:xfrm>
        </p:grpSpPr>
        <p:sp>
          <p:nvSpPr>
            <p:cNvPr id="18" name="Rectangle 17"/>
            <p:cNvSpPr/>
            <p:nvPr/>
          </p:nvSpPr>
          <p:spPr>
            <a:xfrm>
              <a:off x="11887200" y="4152900"/>
              <a:ext cx="5056632" cy="1572767"/>
            </a:xfrm>
            <a:prstGeom prst="rect">
              <a:avLst/>
            </a:prstGeom>
            <a:solidFill>
              <a:srgbClr val="FFFFFF"/>
            </a:solidFill>
            <a:ln w="889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079224" y="4204521"/>
              <a:ext cx="585216" cy="6268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000" b="1">
                  <a:solidFill>
                    <a:srgbClr val="121212"/>
                  </a:solidFill>
                  <a:latin typeface="Aptos"/>
                </a:rPr>
                <a:t>03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829032" y="4320803"/>
              <a:ext cx="3840480" cy="3134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121212"/>
                  </a:solidFill>
                  <a:latin typeface="Aptos"/>
                </a:rPr>
                <a:t>EXPLAIN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829032" y="4719828"/>
              <a:ext cx="3767328" cy="94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0">
                  <a:solidFill>
                    <a:srgbClr val="2C2C2C"/>
                  </a:solidFill>
                  <a:latin typeface="Aptos"/>
                </a:rPr>
                <a:t>Identify the</a:t>
              </a:r>
              <a:r>
                <a:rPr lang="en-US" sz="2000" b="0">
                  <a:solidFill>
                    <a:srgbClr val="2C2C2C"/>
                  </a:solidFill>
                  <a:latin typeface="Aptos"/>
                </a:rPr>
                <a:t> most influential</a:t>
              </a:r>
              <a:r>
                <a:rPr sz="2000" b="0">
                  <a:solidFill>
                    <a:srgbClr val="2C2C2C"/>
                  </a:solidFill>
                  <a:latin typeface="Aptos"/>
                </a:rPr>
                <a:t> national attributes </a:t>
              </a:r>
              <a:r>
                <a:rPr lang="en-GB" sz="2000" b="0">
                  <a:solidFill>
                    <a:srgbClr val="2C2C2C"/>
                  </a:solidFill>
                  <a:latin typeface="Aptos"/>
                </a:rPr>
                <a:t>contributing to the predictions</a:t>
              </a:r>
              <a:endParaRPr sz="2000" b="0">
                <a:solidFill>
                  <a:srgbClr val="2C2C2C"/>
                </a:solidFill>
                <a:latin typeface="Aptos"/>
              </a:endParaRPr>
            </a:p>
          </p:txBody>
        </p:sp>
      </p:grpSp>
      <p:cxnSp>
        <p:nvCxnSpPr>
          <p:cNvPr id="22" name="Connector 21"/>
          <p:cNvCxnSpPr/>
          <p:nvPr/>
        </p:nvCxnSpPr>
        <p:spPr>
          <a:xfrm>
            <a:off x="1170432" y="5990845"/>
            <a:ext cx="15910560" cy="0"/>
          </a:xfrm>
          <a:prstGeom prst="line">
            <a:avLst/>
          </a:prstGeom>
          <a:ln w="11430">
            <a:solidFill>
              <a:srgbClr val="121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21">
            <a:extLst>
              <a:ext uri="{FF2B5EF4-FFF2-40B4-BE49-F238E27FC236}">
                <a16:creationId xmlns:a16="http://schemas.microsoft.com/office/drawing/2014/main" id="{EFA7C0CD-833A-3BFD-EF08-D8F9C1D3624A}"/>
              </a:ext>
            </a:extLst>
          </p:cNvPr>
          <p:cNvCxnSpPr/>
          <p:nvPr/>
        </p:nvCxnSpPr>
        <p:spPr>
          <a:xfrm>
            <a:off x="1170432" y="7228341"/>
            <a:ext cx="15910560" cy="0"/>
          </a:xfrm>
          <a:prstGeom prst="line">
            <a:avLst/>
          </a:prstGeom>
          <a:ln w="11430">
            <a:solidFill>
              <a:srgbClr val="121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21">
            <a:extLst>
              <a:ext uri="{FF2B5EF4-FFF2-40B4-BE49-F238E27FC236}">
                <a16:creationId xmlns:a16="http://schemas.microsoft.com/office/drawing/2014/main" id="{99EF4FE6-4EA3-5A65-D15D-15989C0934A4}"/>
              </a:ext>
            </a:extLst>
          </p:cNvPr>
          <p:cNvCxnSpPr/>
          <p:nvPr/>
        </p:nvCxnSpPr>
        <p:spPr>
          <a:xfrm>
            <a:off x="1170432" y="4052363"/>
            <a:ext cx="15910560" cy="0"/>
          </a:xfrm>
          <a:prstGeom prst="line">
            <a:avLst/>
          </a:prstGeom>
          <a:ln w="11430">
            <a:solidFill>
              <a:srgbClr val="121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7F0268-4870-8456-1E6A-72BF90DF3BFB}"/>
              </a:ext>
            </a:extLst>
          </p:cNvPr>
          <p:cNvGrpSpPr/>
          <p:nvPr/>
        </p:nvGrpSpPr>
        <p:grpSpPr>
          <a:xfrm>
            <a:off x="9726268" y="7442801"/>
            <a:ext cx="7130696" cy="2079382"/>
            <a:chOff x="9726268" y="7442801"/>
            <a:chExt cx="7130696" cy="2079382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8C893A-3A59-0E83-DA84-DF941581D0EB}"/>
                </a:ext>
              </a:extLst>
            </p:cNvPr>
            <p:cNvGrpSpPr/>
            <p:nvPr/>
          </p:nvGrpSpPr>
          <p:grpSpPr>
            <a:xfrm>
              <a:off x="9726268" y="7442801"/>
              <a:ext cx="7130696" cy="2079382"/>
              <a:chOff x="9726268" y="7442801"/>
              <a:chExt cx="7130696" cy="2079382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5D8F5871-D141-6FD1-B3DB-2FCAB2D242DA}"/>
                  </a:ext>
                </a:extLst>
              </p:cNvPr>
              <p:cNvGrpSpPr/>
              <p:nvPr/>
            </p:nvGrpSpPr>
            <p:grpSpPr>
              <a:xfrm>
                <a:off x="9726268" y="7442801"/>
                <a:ext cx="7130696" cy="2079382"/>
                <a:chOff x="1062328" y="6954014"/>
                <a:chExt cx="7130696" cy="2079382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F61D6C0-EA0F-A939-A9B3-0ACDC8BBDE69}"/>
                    </a:ext>
                  </a:extLst>
                </p:cNvPr>
                <p:cNvSpPr/>
                <p:nvPr/>
              </p:nvSpPr>
              <p:spPr>
                <a:xfrm>
                  <a:off x="1062328" y="6954014"/>
                  <a:ext cx="7130696" cy="2079382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8890">
                  <a:solidFill>
                    <a:srgbClr val="A6A6A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b="1">
                    <a:solidFill>
                      <a:srgbClr val="E4E4E4"/>
                    </a:solidFill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A09A0EE-7A31-D087-8143-4079DE361A59}"/>
                    </a:ext>
                  </a:extLst>
                </p:cNvPr>
                <p:cNvSpPr txBox="1"/>
                <p:nvPr/>
              </p:nvSpPr>
              <p:spPr>
                <a:xfrm>
                  <a:off x="1234440" y="7156944"/>
                  <a:ext cx="3722121" cy="15356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>
                    <a:lnSpc>
                      <a:spcPct val="105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3200" b="1">
                      <a:solidFill>
                        <a:srgbClr val="E4E4E4"/>
                      </a:solidFill>
                      <a:latin typeface="Aptos"/>
                    </a:rPr>
                    <a:t>K-NEAREST NEIGHBOURS (KNN)</a:t>
                  </a:r>
                  <a:endParaRPr sz="3200" b="1">
                    <a:solidFill>
                      <a:srgbClr val="E4E4E4"/>
                    </a:solidFill>
                    <a:latin typeface="Aptos"/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F90BCCB-A6EB-5353-0BE1-0ECB94014972}"/>
                    </a:ext>
                  </a:extLst>
                </p:cNvPr>
                <p:cNvSpPr txBox="1"/>
                <p:nvPr/>
              </p:nvSpPr>
              <p:spPr>
                <a:xfrm>
                  <a:off x="3913589" y="7246518"/>
                  <a:ext cx="4270333" cy="5641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5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3600" b="1">
                      <a:solidFill>
                        <a:srgbClr val="E4E4E4"/>
                      </a:solidFill>
                      <a:latin typeface="Aptos"/>
                    </a:rPr>
                    <a:t>k = 3 </a:t>
                  </a:r>
                  <a:r>
                    <a:rPr lang="en-US" sz="3600" b="1" err="1">
                      <a:solidFill>
                        <a:srgbClr val="E4E4E4"/>
                      </a:solidFill>
                      <a:latin typeface="Aptos"/>
                    </a:rPr>
                    <a:t>Neighbours</a:t>
                  </a:r>
                  <a:endParaRPr sz="3600" b="1">
                    <a:solidFill>
                      <a:srgbClr val="E4E4E4"/>
                    </a:solidFill>
                    <a:latin typeface="Aptos"/>
                  </a:endParaRPr>
                </a:p>
              </p:txBody>
            </p:sp>
          </p:grpSp>
          <p:sp>
            <p:nvSpPr>
              <p:cNvPr id="62" name="KNN R-squared label">
                <a:extLst>
                  <a:ext uri="{FF2B5EF4-FFF2-40B4-BE49-F238E27FC236}">
                    <a16:creationId xmlns:a16="http://schemas.microsoft.com/office/drawing/2014/main" id="{1804A3FF-F989-1CF2-D4E8-0DEEAE2389AF}"/>
                  </a:ext>
                </a:extLst>
              </p:cNvPr>
              <p:cNvSpPr txBox="1"/>
              <p:nvPr/>
            </p:nvSpPr>
            <p:spPr>
              <a:xfrm>
                <a:off x="12976961" y="8663976"/>
                <a:ext cx="1453896" cy="75219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800" b="1">
                    <a:solidFill>
                      <a:srgbClr val="E4E4E4"/>
                    </a:solidFill>
                    <a:latin typeface="Aptos"/>
                  </a:rPr>
                  <a:t>R²</a:t>
                </a:r>
                <a:r>
                  <a:rPr lang="en-US" sz="2800" b="1">
                    <a:solidFill>
                      <a:srgbClr val="E4E4E4"/>
                    </a:solidFill>
                    <a:latin typeface="Aptos"/>
                  </a:rPr>
                  <a:t> = 0.26</a:t>
                </a:r>
                <a:endParaRPr sz="2800" b="1">
                  <a:solidFill>
                    <a:srgbClr val="E4E4E4"/>
                  </a:solidFill>
                  <a:latin typeface="Aptos"/>
                </a:endParaRPr>
              </a:p>
            </p:txBody>
          </p:sp>
          <p:sp>
            <p:nvSpPr>
              <p:cNvPr id="63" name="KNN R-squared label">
                <a:extLst>
                  <a:ext uri="{FF2B5EF4-FFF2-40B4-BE49-F238E27FC236}">
                    <a16:creationId xmlns:a16="http://schemas.microsoft.com/office/drawing/2014/main" id="{CA548ECE-E8C4-2424-A065-77E4FAF62A2C}"/>
                  </a:ext>
                </a:extLst>
              </p:cNvPr>
              <p:cNvSpPr txBox="1"/>
              <p:nvPr/>
            </p:nvSpPr>
            <p:spPr>
              <a:xfrm>
                <a:off x="14589252" y="8668766"/>
                <a:ext cx="1453896" cy="75219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>
                    <a:solidFill>
                      <a:srgbClr val="E4E4E4"/>
                    </a:solidFill>
                    <a:latin typeface="Aptos"/>
                  </a:rPr>
                  <a:t>RMSE = 8.89</a:t>
                </a:r>
                <a:endParaRPr sz="2800" b="1">
                  <a:solidFill>
                    <a:srgbClr val="E4E4E4"/>
                  </a:solidFill>
                  <a:latin typeface="Aptos"/>
                </a:endParaRPr>
              </a:p>
            </p:txBody>
          </p:sp>
        </p:grpSp>
        <p:cxnSp>
          <p:nvCxnSpPr>
            <p:cNvPr id="57" name="Connector 45">
              <a:extLst>
                <a:ext uri="{FF2B5EF4-FFF2-40B4-BE49-F238E27FC236}">
                  <a16:creationId xmlns:a16="http://schemas.microsoft.com/office/drawing/2014/main" id="{3AC70E7E-4511-DDDB-66CC-0E96682106C1}"/>
                </a:ext>
              </a:extLst>
            </p:cNvPr>
            <p:cNvCxnSpPr>
              <a:cxnSpLocks/>
            </p:cNvCxnSpPr>
            <p:nvPr/>
          </p:nvCxnSpPr>
          <p:spPr>
            <a:xfrm>
              <a:off x="12664440" y="7632359"/>
              <a:ext cx="0" cy="1700254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45">
              <a:extLst>
                <a:ext uri="{FF2B5EF4-FFF2-40B4-BE49-F238E27FC236}">
                  <a16:creationId xmlns:a16="http://schemas.microsoft.com/office/drawing/2014/main" id="{A142DF77-4C76-C04D-4947-DD54F3727CB5}"/>
                </a:ext>
              </a:extLst>
            </p:cNvPr>
            <p:cNvCxnSpPr>
              <a:cxnSpLocks/>
            </p:cNvCxnSpPr>
            <p:nvPr/>
          </p:nvCxnSpPr>
          <p:spPr>
            <a:xfrm>
              <a:off x="12946195" y="8514599"/>
              <a:ext cx="3650165" cy="0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1C3B2BD-B5B8-E94A-9C65-908BF742D27B}"/>
              </a:ext>
            </a:extLst>
          </p:cNvPr>
          <p:cNvGrpSpPr/>
          <p:nvPr/>
        </p:nvGrpSpPr>
        <p:grpSpPr>
          <a:xfrm>
            <a:off x="1359508" y="7442800"/>
            <a:ext cx="7327292" cy="2079373"/>
            <a:chOff x="1062328" y="6954013"/>
            <a:chExt cx="7327292" cy="207937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AC683C-2419-920C-4C12-DA7843ABF3DA}"/>
                </a:ext>
              </a:extLst>
            </p:cNvPr>
            <p:cNvSpPr/>
            <p:nvPr/>
          </p:nvSpPr>
          <p:spPr>
            <a:xfrm>
              <a:off x="1062328" y="6954013"/>
              <a:ext cx="7130696" cy="207937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889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E4E4E4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97864" y="7063160"/>
              <a:ext cx="5486400" cy="3760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>
                  <a:solidFill>
                    <a:srgbClr val="E4E4E4"/>
                  </a:solidFill>
                  <a:latin typeface="Aptos"/>
                </a:rPr>
                <a:t>PREDICTOR VARIABLES</a:t>
              </a:r>
              <a:endParaRPr sz="2400" b="1">
                <a:solidFill>
                  <a:srgbClr val="E4E4E4"/>
                </a:solidFill>
                <a:latin typeface="Apto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234440" y="7512633"/>
              <a:ext cx="3722121" cy="138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285750" indent="-285750" algn="l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b="1">
                  <a:solidFill>
                    <a:srgbClr val="E4E4E4"/>
                  </a:solidFill>
                  <a:latin typeface="Aptos"/>
                </a:rPr>
                <a:t>Age </a:t>
              </a:r>
              <a:r>
                <a:rPr lang="en-US" b="1">
                  <a:solidFill>
                    <a:srgbClr val="E4E4E4"/>
                  </a:solidFill>
                  <a:latin typeface="Aptos"/>
                </a:rPr>
                <a:t>Dependency Ratio </a:t>
              </a:r>
            </a:p>
            <a:p>
              <a:pPr marL="285750" indent="-285750" algn="l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b="1">
                  <a:solidFill>
                    <a:srgbClr val="E4E4E4"/>
                  </a:solidFill>
                  <a:latin typeface="Aptos"/>
                </a:rPr>
                <a:t>Government </a:t>
              </a:r>
              <a:r>
                <a:rPr lang="en-US" b="1">
                  <a:solidFill>
                    <a:srgbClr val="E4E4E4"/>
                  </a:solidFill>
                  <a:latin typeface="Aptos"/>
                </a:rPr>
                <a:t>e</a:t>
              </a:r>
              <a:r>
                <a:rPr b="1">
                  <a:solidFill>
                    <a:srgbClr val="E4E4E4"/>
                  </a:solidFill>
                  <a:latin typeface="Aptos"/>
                </a:rPr>
                <a:t>ffectiveness </a:t>
              </a:r>
              <a:r>
                <a:rPr lang="en-US" b="1">
                  <a:solidFill>
                    <a:srgbClr val="E4E4E4"/>
                  </a:solidFill>
                  <a:latin typeface="Aptos"/>
                </a:rPr>
                <a:t>Score</a:t>
              </a:r>
            </a:p>
            <a:p>
              <a:pPr marL="285750" indent="-285750" algn="l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b="1">
                  <a:solidFill>
                    <a:srgbClr val="E4E4E4"/>
                  </a:solidFill>
                  <a:latin typeface="Aptos"/>
                </a:rPr>
                <a:t>Internet </a:t>
              </a:r>
              <a:r>
                <a:rPr lang="en-US" b="1">
                  <a:solidFill>
                    <a:srgbClr val="E4E4E4"/>
                  </a:solidFill>
                  <a:latin typeface="Aptos"/>
                </a:rPr>
                <a:t>U</a:t>
              </a:r>
              <a:r>
                <a:rPr b="1">
                  <a:solidFill>
                    <a:srgbClr val="E4E4E4"/>
                  </a:solidFill>
                  <a:latin typeface="Aptos"/>
                </a:rPr>
                <a:t>sage </a:t>
              </a:r>
              <a:endParaRPr lang="en-US" b="1">
                <a:solidFill>
                  <a:srgbClr val="E4E4E4"/>
                </a:solidFill>
                <a:latin typeface="Aptos"/>
              </a:endParaRPr>
            </a:p>
            <a:p>
              <a:pPr marL="285750" indent="-285750" algn="l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b="1">
                  <a:solidFill>
                    <a:srgbClr val="E4E4E4"/>
                  </a:solidFill>
                  <a:latin typeface="Aptos"/>
                </a:rPr>
                <a:t>Population </a:t>
              </a:r>
              <a:r>
                <a:rPr lang="en-US" b="1">
                  <a:solidFill>
                    <a:srgbClr val="E4E4E4"/>
                  </a:solidFill>
                  <a:latin typeface="Aptos"/>
                </a:rPr>
                <a:t>D</a:t>
              </a:r>
              <a:r>
                <a:rPr b="1">
                  <a:solidFill>
                    <a:srgbClr val="E4E4E4"/>
                  </a:solidFill>
                  <a:latin typeface="Aptos"/>
                </a:rPr>
                <a:t>ensity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53C7F6A-7862-7D79-EE71-F173B341BC86}"/>
                </a:ext>
              </a:extLst>
            </p:cNvPr>
            <p:cNvSpPr txBox="1"/>
            <p:nvPr/>
          </p:nvSpPr>
          <p:spPr>
            <a:xfrm>
              <a:off x="5220583" y="7597897"/>
              <a:ext cx="3169037" cy="101765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285750" indent="-285750" algn="l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en-US" b="1">
                  <a:solidFill>
                    <a:srgbClr val="E4E4E4"/>
                  </a:solidFill>
                  <a:latin typeface="Aptos"/>
                </a:rPr>
                <a:t>Life Expectancy at Birth</a:t>
              </a:r>
            </a:p>
            <a:p>
              <a:pPr marL="285750" indent="-285750" algn="l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en-US" b="1">
                  <a:solidFill>
                    <a:srgbClr val="E4E4E4"/>
                  </a:solidFill>
                  <a:latin typeface="Aptos"/>
                </a:rPr>
                <a:t>Mean Years of Schooling</a:t>
              </a:r>
            </a:p>
            <a:p>
              <a:pPr marL="285750" indent="-285750" algn="l">
                <a:lnSpc>
                  <a:spcPct val="105000"/>
                </a:lnSpc>
                <a:spcBef>
                  <a:spcPts val="0"/>
                </a:spcBef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en-US" b="1">
                  <a:solidFill>
                    <a:srgbClr val="E4E4E4"/>
                  </a:solidFill>
                  <a:latin typeface="Aptos"/>
                </a:rPr>
                <a:t>GNI per Capita</a:t>
              </a:r>
              <a:endParaRPr b="1">
                <a:solidFill>
                  <a:srgbClr val="E4E4E4"/>
                </a:solidFill>
                <a:latin typeface="Apto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64162D2-F25C-FA5A-A4F5-60D70EAA42BB}"/>
              </a:ext>
            </a:extLst>
          </p:cNvPr>
          <p:cNvGrpSpPr/>
          <p:nvPr/>
        </p:nvGrpSpPr>
        <p:grpSpPr>
          <a:xfrm>
            <a:off x="1359508" y="6031176"/>
            <a:ext cx="16276320" cy="1027564"/>
            <a:chOff x="1359508" y="6031176"/>
            <a:chExt cx="16276320" cy="1027564"/>
          </a:xfrm>
        </p:grpSpPr>
        <p:sp>
          <p:nvSpPr>
            <p:cNvPr id="23" name="TextBox 22"/>
            <p:cNvSpPr txBox="1"/>
            <p:nvPr/>
          </p:nvSpPr>
          <p:spPr>
            <a:xfrm>
              <a:off x="1359508" y="6031176"/>
              <a:ext cx="3383280" cy="7386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0">
                  <a:solidFill>
                    <a:srgbClr val="121212"/>
                  </a:solidFill>
                  <a:latin typeface="Aptos Display"/>
                </a:rPr>
                <a:t>7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59508" y="6745321"/>
              <a:ext cx="4297680" cy="3134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686868"/>
                  </a:solidFill>
                  <a:latin typeface="Aptos"/>
                </a:rPr>
                <a:t>PREDICTOR </a:t>
              </a:r>
              <a:r>
                <a:rPr lang="en-US" sz="2000" b="1">
                  <a:solidFill>
                    <a:srgbClr val="686868"/>
                  </a:solidFill>
                  <a:latin typeface="Aptos"/>
                </a:rPr>
                <a:t>VARIABLES</a:t>
              </a:r>
              <a:endParaRPr sz="2000" b="1">
                <a:solidFill>
                  <a:srgbClr val="686868"/>
                </a:solidFill>
                <a:latin typeface="Apto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199988" y="6031176"/>
              <a:ext cx="3383280" cy="7386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0">
                  <a:solidFill>
                    <a:srgbClr val="121212"/>
                  </a:solidFill>
                  <a:latin typeface="Aptos Display"/>
                </a:rPr>
                <a:t>47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99988" y="6745320"/>
              <a:ext cx="4297680" cy="3134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686868"/>
                  </a:solidFill>
                  <a:latin typeface="Aptos"/>
                </a:rPr>
                <a:t>LABELLED COUNTRIES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040468" y="6031176"/>
              <a:ext cx="3383280" cy="7386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0">
                  <a:solidFill>
                    <a:srgbClr val="121212"/>
                  </a:solidFill>
                  <a:latin typeface="Aptos Display"/>
                </a:rPr>
                <a:t>146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40468" y="6745320"/>
              <a:ext cx="4297680" cy="3134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686868"/>
                  </a:solidFill>
                  <a:latin typeface="Aptos"/>
                </a:rPr>
                <a:t>UNLABELLED COUNTRIES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D6DCCA6-68F3-71D5-909E-52704B5A504F}"/>
                </a:ext>
              </a:extLst>
            </p:cNvPr>
            <p:cNvSpPr txBox="1"/>
            <p:nvPr/>
          </p:nvSpPr>
          <p:spPr>
            <a:xfrm>
              <a:off x="13338148" y="6031176"/>
              <a:ext cx="3383280" cy="7386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4800" b="0">
                  <a:solidFill>
                    <a:srgbClr val="121212"/>
                  </a:solidFill>
                  <a:latin typeface="Aptos Display"/>
                </a:rPr>
                <a:t>9</a:t>
              </a:r>
              <a:endParaRPr sz="4800" b="0">
                <a:solidFill>
                  <a:srgbClr val="121212"/>
                </a:solidFill>
                <a:latin typeface="Aptos Display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D618AEC-64F2-6082-F56E-5042B6AF1761}"/>
                </a:ext>
              </a:extLst>
            </p:cNvPr>
            <p:cNvSpPr txBox="1"/>
            <p:nvPr/>
          </p:nvSpPr>
          <p:spPr>
            <a:xfrm>
              <a:off x="13338148" y="6745321"/>
              <a:ext cx="4297680" cy="3134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>
                  <a:solidFill>
                    <a:srgbClr val="686868"/>
                  </a:solidFill>
                  <a:latin typeface="Aptos"/>
                </a:rPr>
                <a:t>REGRESSION MODELS TESTED</a:t>
              </a:r>
              <a:endParaRPr sz="2000" b="1">
                <a:solidFill>
                  <a:srgbClr val="686868"/>
                </a:solidFill>
                <a:latin typeface="Aptos"/>
              </a:endParaRPr>
            </a:p>
          </p:txBody>
        </p:sp>
      </p:grpSp>
      <p:sp>
        <p:nvSpPr>
          <p:cNvPr id="33" name="TextBox 5">
            <a:extLst>
              <a:ext uri="{FF2B5EF4-FFF2-40B4-BE49-F238E27FC236}">
                <a16:creationId xmlns:a16="http://schemas.microsoft.com/office/drawing/2014/main" id="{5F21F833-53D0-F908-FEB4-C17576E5D083}"/>
              </a:ext>
            </a:extLst>
          </p:cNvPr>
          <p:cNvSpPr txBox="1"/>
          <p:nvPr/>
        </p:nvSpPr>
        <p:spPr>
          <a:xfrm>
            <a:off x="152400" y="9910438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KAVIN LERTSATTHA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cxnSp>
        <p:nvCxnSpPr>
          <p:cNvPr id="41" name="Connector 2">
            <a:extLst>
              <a:ext uri="{FF2B5EF4-FFF2-40B4-BE49-F238E27FC236}">
                <a16:creationId xmlns:a16="http://schemas.microsoft.com/office/drawing/2014/main" id="{72C576C7-989C-593D-C598-D75CE12A7CA2}"/>
              </a:ext>
            </a:extLst>
          </p:cNvPr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e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B302C7-1D26-3FA3-0EA9-B2A351A45F56}"/>
              </a:ext>
            </a:extLst>
          </p:cNvPr>
          <p:cNvSpPr txBox="1"/>
          <p:nvPr/>
        </p:nvSpPr>
        <p:spPr>
          <a:xfrm>
            <a:off x="1170432" y="1231567"/>
            <a:ext cx="16276320" cy="975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400">
                <a:solidFill>
                  <a:srgbClr val="000000"/>
                </a:solidFill>
                <a:latin typeface="DM Serif Display"/>
              </a:rPr>
              <a:t>Predictive AI Trust Mapping Results</a:t>
            </a:r>
            <a:endParaRPr sz="6400">
              <a:solidFill>
                <a:srgbClr val="000000"/>
              </a:solidFill>
              <a:latin typeface="DM Serif Display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EAF87CC5-5398-5CED-E62A-DDC9E50203D4}"/>
              </a:ext>
            </a:extLst>
          </p:cNvPr>
          <p:cNvSpPr txBox="1"/>
          <p:nvPr/>
        </p:nvSpPr>
        <p:spPr>
          <a:xfrm>
            <a:off x="152400" y="9910438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KAVIN LERTSATTHA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cxnSp>
        <p:nvCxnSpPr>
          <p:cNvPr id="23" name="Connector 2">
            <a:extLst>
              <a:ext uri="{FF2B5EF4-FFF2-40B4-BE49-F238E27FC236}">
                <a16:creationId xmlns:a16="http://schemas.microsoft.com/office/drawing/2014/main" id="{F85F5500-99E3-803D-DC5A-D854B25A13EC}"/>
              </a:ext>
            </a:extLst>
          </p:cNvPr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1161289" y="2235153"/>
            <a:ext cx="5173924" cy="3676476"/>
          </a:xfrm>
          <a:prstGeom prst="rect">
            <a:avLst/>
          </a:prstGeom>
          <a:solidFill>
            <a:srgbClr val="FFFFFF"/>
          </a:solidFill>
          <a:ln w="12065">
            <a:solidFill>
              <a:srgbClr val="D1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61289" y="2235153"/>
            <a:ext cx="5173909" cy="117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80234" y="2492669"/>
            <a:ext cx="321427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SG" sz="2000" b="1">
                <a:solidFill>
                  <a:srgbClr val="121212"/>
                </a:solidFill>
                <a:latin typeface="Aptos"/>
              </a:rPr>
              <a:t>LABELLED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3193" y="2436591"/>
            <a:ext cx="94123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SG" sz="2400" b="1">
                <a:solidFill>
                  <a:srgbClr val="121212"/>
                </a:solidFill>
                <a:latin typeface="Aptos"/>
              </a:rPr>
              <a:t>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0810" y="2763162"/>
            <a:ext cx="101806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SG" sz="1100" b="1">
                <a:solidFill>
                  <a:srgbClr val="686868"/>
                </a:solidFill>
                <a:latin typeface="Aptos"/>
              </a:rPr>
              <a:t>COUNTRIES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8700" y="2854976"/>
            <a:ext cx="5295600" cy="305665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576956" y="2235153"/>
            <a:ext cx="10644244" cy="7450229"/>
          </a:xfrm>
          <a:prstGeom prst="rect">
            <a:avLst/>
          </a:prstGeom>
          <a:solidFill>
            <a:srgbClr val="FFFFFF"/>
          </a:solidFill>
          <a:ln w="12065">
            <a:solidFill>
              <a:srgbClr val="D1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76999" y="2235153"/>
            <a:ext cx="10644201" cy="10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05600" y="2457687"/>
            <a:ext cx="4631401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b="1">
                <a:solidFill>
                  <a:srgbClr val="121212"/>
                </a:solidFill>
                <a:latin typeface="Aptos"/>
              </a:rPr>
              <a:t>COMPLETE DATASET</a:t>
            </a:r>
            <a:endParaRPr sz="2600" b="1">
              <a:solidFill>
                <a:srgbClr val="121212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720290" y="2457687"/>
            <a:ext cx="1356207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3100" b="1">
                <a:solidFill>
                  <a:srgbClr val="121212"/>
                </a:solidFill>
                <a:latin typeface="Aptos"/>
              </a:rPr>
              <a:t>193</a:t>
            </a:r>
            <a:endParaRPr sz="3100" b="1">
              <a:solidFill>
                <a:srgbClr val="121212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5609579" y="2922914"/>
            <a:ext cx="146691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86868"/>
                </a:solidFill>
                <a:latin typeface="Aptos"/>
              </a:rPr>
              <a:t>COUNTRIES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D92C178-E9DD-EEB4-990F-9696313E403A}"/>
              </a:ext>
            </a:extLst>
          </p:cNvPr>
          <p:cNvSpPr/>
          <p:nvPr/>
        </p:nvSpPr>
        <p:spPr>
          <a:xfrm>
            <a:off x="1161289" y="6008906"/>
            <a:ext cx="5173924" cy="3676476"/>
          </a:xfrm>
          <a:prstGeom prst="rect">
            <a:avLst/>
          </a:prstGeom>
          <a:solidFill>
            <a:srgbClr val="FFFFFF"/>
          </a:solidFill>
          <a:ln w="12065">
            <a:solidFill>
              <a:srgbClr val="D1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DC20709-8368-763D-3F81-95E0EF5A948E}"/>
              </a:ext>
            </a:extLst>
          </p:cNvPr>
          <p:cNvSpPr/>
          <p:nvPr/>
        </p:nvSpPr>
        <p:spPr>
          <a:xfrm>
            <a:off x="1161289" y="6008906"/>
            <a:ext cx="5173909" cy="117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971BCB-85C7-791D-8131-66CF9250F310}"/>
              </a:ext>
            </a:extLst>
          </p:cNvPr>
          <p:cNvSpPr txBox="1"/>
          <p:nvPr/>
        </p:nvSpPr>
        <p:spPr>
          <a:xfrm>
            <a:off x="1280234" y="6266422"/>
            <a:ext cx="321427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SG" sz="2000" b="1">
                <a:solidFill>
                  <a:srgbClr val="121212"/>
                </a:solidFill>
                <a:latin typeface="Aptos"/>
              </a:rPr>
              <a:t>UNLABELED DATASET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BBD600-F580-620F-2FFD-319C151E87C7}"/>
              </a:ext>
            </a:extLst>
          </p:cNvPr>
          <p:cNvSpPr txBox="1"/>
          <p:nvPr/>
        </p:nvSpPr>
        <p:spPr>
          <a:xfrm>
            <a:off x="5227645" y="6210344"/>
            <a:ext cx="94123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SG" sz="2400" b="1">
                <a:solidFill>
                  <a:srgbClr val="121212"/>
                </a:solidFill>
                <a:latin typeface="Aptos"/>
              </a:rPr>
              <a:t>146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799E2F-3E15-E9F9-0232-68E19A6A7F00}"/>
              </a:ext>
            </a:extLst>
          </p:cNvPr>
          <p:cNvSpPr txBox="1"/>
          <p:nvPr/>
        </p:nvSpPr>
        <p:spPr>
          <a:xfrm>
            <a:off x="5150810" y="6536915"/>
            <a:ext cx="101806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SG" sz="1100" b="1">
                <a:solidFill>
                  <a:srgbClr val="686868"/>
                </a:solidFill>
                <a:latin typeface="Aptos"/>
              </a:rPr>
              <a:t>COUNTRIES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E67019F-CA3D-5CE7-B17B-EB768DCA12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640" y="2922512"/>
            <a:ext cx="10609971" cy="668781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D639EBD-E360-46ED-A762-667EE46B65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803" y="6632778"/>
            <a:ext cx="5340282" cy="31260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e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B4810D-34E3-3EBE-5369-21B892AF3B29}"/>
              </a:ext>
            </a:extLst>
          </p:cNvPr>
          <p:cNvSpPr txBox="1"/>
          <p:nvPr/>
        </p:nvSpPr>
        <p:spPr>
          <a:xfrm>
            <a:off x="1170432" y="1231567"/>
            <a:ext cx="16276320" cy="975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400">
                <a:solidFill>
                  <a:srgbClr val="000000"/>
                </a:solidFill>
                <a:latin typeface="DM Serif Display"/>
              </a:rPr>
              <a:t>Predictive Variable Importance</a:t>
            </a:r>
            <a:endParaRPr sz="6400">
              <a:solidFill>
                <a:srgbClr val="000000"/>
              </a:solidFill>
              <a:latin typeface="DM Serif Display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179576" y="8953500"/>
            <a:ext cx="15919704" cy="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07008" y="2567835"/>
            <a:ext cx="8869680" cy="438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212"/>
                </a:solidFill>
                <a:latin typeface="Aptos"/>
              </a:rPr>
              <a:t>RANKED NATIONAL INDICATORS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1188720" y="3097987"/>
            <a:ext cx="9116568" cy="0"/>
          </a:xfrm>
          <a:prstGeom prst="line">
            <a:avLst/>
          </a:prstGeom>
          <a:ln w="889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2479930-BC18-DFB7-90E0-E4743A35C511}"/>
              </a:ext>
            </a:extLst>
          </p:cNvPr>
          <p:cNvGrpSpPr/>
          <p:nvPr/>
        </p:nvGrpSpPr>
        <p:grpSpPr>
          <a:xfrm>
            <a:off x="1353312" y="3227588"/>
            <a:ext cx="5971032" cy="438774"/>
            <a:chOff x="1353312" y="3281066"/>
            <a:chExt cx="5971032" cy="438774"/>
          </a:xfrm>
        </p:grpSpPr>
        <p:sp>
          <p:nvSpPr>
            <p:cNvPr id="13" name="TextBox 12"/>
            <p:cNvSpPr txBox="1"/>
            <p:nvPr/>
          </p:nvSpPr>
          <p:spPr>
            <a:xfrm>
              <a:off x="1353312" y="3281066"/>
              <a:ext cx="640080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A8A140"/>
                  </a:solidFill>
                  <a:latin typeface="Aptos"/>
                </a:rPr>
                <a:t>01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57984" y="3281066"/>
              <a:ext cx="5166360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A8A140"/>
                  </a:solidFill>
                  <a:latin typeface="Aptos"/>
                </a:rPr>
                <a:t>Age </a:t>
              </a:r>
              <a:r>
                <a:rPr lang="en-US" sz="2800" b="1">
                  <a:solidFill>
                    <a:srgbClr val="A8A140"/>
                  </a:solidFill>
                  <a:latin typeface="Aptos"/>
                </a:rPr>
                <a:t>D</a:t>
              </a:r>
              <a:r>
                <a:rPr sz="2800" b="1">
                  <a:solidFill>
                    <a:srgbClr val="A8A140"/>
                  </a:solidFill>
                  <a:latin typeface="Aptos"/>
                </a:rPr>
                <a:t>ependency </a:t>
              </a:r>
              <a:r>
                <a:rPr lang="en-US" sz="2800" b="1">
                  <a:solidFill>
                    <a:srgbClr val="A8A140"/>
                  </a:solidFill>
                  <a:latin typeface="Aptos"/>
                </a:rPr>
                <a:t>R</a:t>
              </a:r>
              <a:r>
                <a:rPr sz="2800" b="1">
                  <a:solidFill>
                    <a:srgbClr val="A8A140"/>
                  </a:solidFill>
                  <a:latin typeface="Aptos"/>
                </a:rPr>
                <a:t>atio</a:t>
              </a:r>
            </a:p>
          </p:txBody>
        </p:sp>
      </p:grpSp>
      <p:cxnSp>
        <p:nvCxnSpPr>
          <p:cNvPr id="16" name="Connector 15"/>
          <p:cNvCxnSpPr>
            <a:cxnSpLocks/>
          </p:cNvCxnSpPr>
          <p:nvPr/>
        </p:nvCxnSpPr>
        <p:spPr>
          <a:xfrm>
            <a:off x="1188720" y="4609891"/>
            <a:ext cx="9116568" cy="0"/>
          </a:xfrm>
          <a:prstGeom prst="line">
            <a:avLst/>
          </a:prstGeom>
          <a:ln w="6096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29BD1AA-3C28-8C41-E65A-AD709CF3EA53}"/>
              </a:ext>
            </a:extLst>
          </p:cNvPr>
          <p:cNvGrpSpPr/>
          <p:nvPr/>
        </p:nvGrpSpPr>
        <p:grpSpPr>
          <a:xfrm>
            <a:off x="1348740" y="4032522"/>
            <a:ext cx="6185916" cy="438774"/>
            <a:chOff x="1348740" y="4086000"/>
            <a:chExt cx="6185916" cy="438774"/>
          </a:xfrm>
        </p:grpSpPr>
        <p:sp>
          <p:nvSpPr>
            <p:cNvPr id="17" name="TextBox 16"/>
            <p:cNvSpPr txBox="1"/>
            <p:nvPr/>
          </p:nvSpPr>
          <p:spPr>
            <a:xfrm>
              <a:off x="1348740" y="4086000"/>
              <a:ext cx="640080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02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57984" y="4086000"/>
              <a:ext cx="5376672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Mean </a:t>
              </a:r>
              <a:r>
                <a:rPr lang="en-US" sz="2800" b="1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Y</a:t>
              </a:r>
              <a:r>
                <a:rPr sz="2800" b="1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ears of </a:t>
              </a:r>
              <a:r>
                <a:rPr lang="en-US" sz="2800" b="1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S</a:t>
              </a:r>
              <a:r>
                <a:rPr sz="2800" b="1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chooling</a:t>
              </a:r>
            </a:p>
          </p:txBody>
        </p:sp>
      </p:grpSp>
      <p:cxnSp>
        <p:nvCxnSpPr>
          <p:cNvPr id="20" name="Connector 19"/>
          <p:cNvCxnSpPr>
            <a:cxnSpLocks/>
          </p:cNvCxnSpPr>
          <p:nvPr/>
        </p:nvCxnSpPr>
        <p:spPr>
          <a:xfrm>
            <a:off x="1188720" y="5414824"/>
            <a:ext cx="9116568" cy="0"/>
          </a:xfrm>
          <a:prstGeom prst="line">
            <a:avLst/>
          </a:prstGeom>
          <a:ln w="6096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024319F5-5E87-CB0A-5BBA-84B4169ACDFB}"/>
              </a:ext>
            </a:extLst>
          </p:cNvPr>
          <p:cNvGrpSpPr/>
          <p:nvPr/>
        </p:nvGrpSpPr>
        <p:grpSpPr>
          <a:xfrm>
            <a:off x="1348740" y="4837455"/>
            <a:ext cx="6185916" cy="438774"/>
            <a:chOff x="1348740" y="4890933"/>
            <a:chExt cx="6185916" cy="438774"/>
          </a:xfrm>
        </p:grpSpPr>
        <p:sp>
          <p:nvSpPr>
            <p:cNvPr id="21" name="TextBox 20"/>
            <p:cNvSpPr txBox="1"/>
            <p:nvPr/>
          </p:nvSpPr>
          <p:spPr>
            <a:xfrm>
              <a:off x="1348740" y="4890933"/>
              <a:ext cx="640080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73530B"/>
                  </a:solidFill>
                  <a:latin typeface="Aptos"/>
                </a:rPr>
                <a:t>03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57984" y="4890933"/>
              <a:ext cx="5376672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73530B"/>
                  </a:solidFill>
                  <a:latin typeface="Aptos"/>
                </a:rPr>
                <a:t>Government </a:t>
              </a:r>
              <a:r>
                <a:rPr lang="en-US" sz="2800" b="1">
                  <a:solidFill>
                    <a:srgbClr val="73530B"/>
                  </a:solidFill>
                  <a:latin typeface="Aptos"/>
                </a:rPr>
                <a:t>E</a:t>
              </a:r>
              <a:r>
                <a:rPr sz="2800" b="1">
                  <a:solidFill>
                    <a:srgbClr val="73530B"/>
                  </a:solidFill>
                  <a:latin typeface="Aptos"/>
                </a:rPr>
                <a:t>ffectiveness</a:t>
              </a:r>
            </a:p>
          </p:txBody>
        </p:sp>
      </p:grpSp>
      <p:cxnSp>
        <p:nvCxnSpPr>
          <p:cNvPr id="24" name="Connector 23"/>
          <p:cNvCxnSpPr>
            <a:cxnSpLocks/>
          </p:cNvCxnSpPr>
          <p:nvPr/>
        </p:nvCxnSpPr>
        <p:spPr>
          <a:xfrm>
            <a:off x="1188720" y="6219758"/>
            <a:ext cx="9116568" cy="0"/>
          </a:xfrm>
          <a:prstGeom prst="line">
            <a:avLst/>
          </a:prstGeom>
          <a:ln w="6096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BD7B4E9-A468-E5FA-656F-68F2AFA3A3E8}"/>
              </a:ext>
            </a:extLst>
          </p:cNvPr>
          <p:cNvGrpSpPr/>
          <p:nvPr/>
        </p:nvGrpSpPr>
        <p:grpSpPr>
          <a:xfrm>
            <a:off x="1348740" y="5642388"/>
            <a:ext cx="6185916" cy="438774"/>
            <a:chOff x="1348740" y="5695866"/>
            <a:chExt cx="6185916" cy="438774"/>
          </a:xfrm>
        </p:grpSpPr>
        <p:sp>
          <p:nvSpPr>
            <p:cNvPr id="25" name="TextBox 24"/>
            <p:cNvSpPr txBox="1"/>
            <p:nvPr/>
          </p:nvSpPr>
          <p:spPr>
            <a:xfrm>
              <a:off x="1348740" y="5695866"/>
              <a:ext cx="640080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/>
                </a:rPr>
                <a:t>04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157984" y="5695866"/>
              <a:ext cx="5376672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121212"/>
                  </a:solidFill>
                  <a:latin typeface="Aptos"/>
                </a:rPr>
                <a:t>Internet </a:t>
              </a:r>
              <a:r>
                <a:rPr lang="en-US" sz="2800" b="1">
                  <a:solidFill>
                    <a:srgbClr val="121212"/>
                  </a:solidFill>
                  <a:latin typeface="Aptos"/>
                </a:rPr>
                <a:t>U</a:t>
              </a:r>
              <a:r>
                <a:rPr sz="2800" b="1">
                  <a:solidFill>
                    <a:srgbClr val="121212"/>
                  </a:solidFill>
                  <a:latin typeface="Aptos"/>
                </a:rPr>
                <a:t>sage</a:t>
              </a:r>
            </a:p>
          </p:txBody>
        </p:sp>
      </p:grpSp>
      <p:cxnSp>
        <p:nvCxnSpPr>
          <p:cNvPr id="28" name="Connector 27"/>
          <p:cNvCxnSpPr>
            <a:cxnSpLocks/>
          </p:cNvCxnSpPr>
          <p:nvPr/>
        </p:nvCxnSpPr>
        <p:spPr>
          <a:xfrm>
            <a:off x="1188720" y="7024691"/>
            <a:ext cx="9116568" cy="0"/>
          </a:xfrm>
          <a:prstGeom prst="line">
            <a:avLst/>
          </a:prstGeom>
          <a:ln w="6096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ED678F-BAEA-418D-A38D-DFE9FDB85A02}"/>
              </a:ext>
            </a:extLst>
          </p:cNvPr>
          <p:cNvGrpSpPr/>
          <p:nvPr/>
        </p:nvGrpSpPr>
        <p:grpSpPr>
          <a:xfrm>
            <a:off x="1348740" y="6447321"/>
            <a:ext cx="6185916" cy="438774"/>
            <a:chOff x="1348740" y="6500799"/>
            <a:chExt cx="6185916" cy="438774"/>
          </a:xfrm>
        </p:grpSpPr>
        <p:sp>
          <p:nvSpPr>
            <p:cNvPr id="29" name="TextBox 28"/>
            <p:cNvSpPr txBox="1"/>
            <p:nvPr/>
          </p:nvSpPr>
          <p:spPr>
            <a:xfrm>
              <a:off x="1348740" y="6500799"/>
              <a:ext cx="640080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/>
                </a:rPr>
                <a:t>05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57984" y="6500799"/>
              <a:ext cx="5376672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121212"/>
                  </a:solidFill>
                  <a:latin typeface="Aptos"/>
                </a:rPr>
                <a:t>GNI per </a:t>
              </a:r>
              <a:r>
                <a:rPr lang="en-US" sz="2800" b="1">
                  <a:solidFill>
                    <a:srgbClr val="121212"/>
                  </a:solidFill>
                  <a:latin typeface="Aptos"/>
                </a:rPr>
                <a:t>C</a:t>
              </a:r>
              <a:r>
                <a:rPr sz="2800" b="1">
                  <a:solidFill>
                    <a:srgbClr val="121212"/>
                  </a:solidFill>
                  <a:latin typeface="Aptos"/>
                </a:rPr>
                <a:t>apita</a:t>
              </a:r>
            </a:p>
          </p:txBody>
        </p:sp>
      </p:grpSp>
      <p:cxnSp>
        <p:nvCxnSpPr>
          <p:cNvPr id="32" name="Connector 31"/>
          <p:cNvCxnSpPr>
            <a:cxnSpLocks/>
          </p:cNvCxnSpPr>
          <p:nvPr/>
        </p:nvCxnSpPr>
        <p:spPr>
          <a:xfrm>
            <a:off x="1188720" y="7829624"/>
            <a:ext cx="9116568" cy="0"/>
          </a:xfrm>
          <a:prstGeom prst="line">
            <a:avLst/>
          </a:prstGeom>
          <a:ln w="6096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7935BE3-8451-0266-B4C3-E3DEEC1B71E5}"/>
              </a:ext>
            </a:extLst>
          </p:cNvPr>
          <p:cNvGrpSpPr/>
          <p:nvPr/>
        </p:nvGrpSpPr>
        <p:grpSpPr>
          <a:xfrm>
            <a:off x="1348740" y="7252255"/>
            <a:ext cx="6185916" cy="438774"/>
            <a:chOff x="1348740" y="7305733"/>
            <a:chExt cx="6185916" cy="438774"/>
          </a:xfrm>
        </p:grpSpPr>
        <p:sp>
          <p:nvSpPr>
            <p:cNvPr id="33" name="TextBox 32"/>
            <p:cNvSpPr txBox="1"/>
            <p:nvPr/>
          </p:nvSpPr>
          <p:spPr>
            <a:xfrm>
              <a:off x="1348740" y="7305733"/>
              <a:ext cx="640080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/>
                </a:rPr>
                <a:t>06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57984" y="7305733"/>
              <a:ext cx="5376672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121212"/>
                  </a:solidFill>
                  <a:latin typeface="Aptos"/>
                </a:rPr>
                <a:t>Life </a:t>
              </a:r>
              <a:r>
                <a:rPr lang="en-US" sz="2800" b="1">
                  <a:solidFill>
                    <a:srgbClr val="121212"/>
                  </a:solidFill>
                  <a:latin typeface="Aptos"/>
                </a:rPr>
                <a:t>E</a:t>
              </a:r>
              <a:r>
                <a:rPr sz="2800" b="1">
                  <a:solidFill>
                    <a:srgbClr val="121212"/>
                  </a:solidFill>
                  <a:latin typeface="Aptos"/>
                </a:rPr>
                <a:t>xpectancy at </a:t>
              </a:r>
              <a:r>
                <a:rPr lang="en-US" sz="2800" b="1">
                  <a:solidFill>
                    <a:srgbClr val="121212"/>
                  </a:solidFill>
                  <a:latin typeface="Aptos"/>
                </a:rPr>
                <a:t>B</a:t>
              </a:r>
              <a:r>
                <a:rPr sz="2800" b="1">
                  <a:solidFill>
                    <a:srgbClr val="121212"/>
                  </a:solidFill>
                  <a:latin typeface="Aptos"/>
                </a:rPr>
                <a:t>irth</a:t>
              </a:r>
            </a:p>
          </p:txBody>
        </p:sp>
      </p:grpSp>
      <p:cxnSp>
        <p:nvCxnSpPr>
          <p:cNvPr id="36" name="Connector 35"/>
          <p:cNvCxnSpPr>
            <a:cxnSpLocks/>
          </p:cNvCxnSpPr>
          <p:nvPr/>
        </p:nvCxnSpPr>
        <p:spPr>
          <a:xfrm>
            <a:off x="1207008" y="8648700"/>
            <a:ext cx="9116568" cy="0"/>
          </a:xfrm>
          <a:prstGeom prst="line">
            <a:avLst/>
          </a:prstGeom>
          <a:ln w="6096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626EDF6-7374-FCAD-AC98-AAE2102372A6}"/>
              </a:ext>
            </a:extLst>
          </p:cNvPr>
          <p:cNvGrpSpPr/>
          <p:nvPr/>
        </p:nvGrpSpPr>
        <p:grpSpPr>
          <a:xfrm>
            <a:off x="1348740" y="8035317"/>
            <a:ext cx="6185916" cy="438774"/>
            <a:chOff x="1348740" y="8117086"/>
            <a:chExt cx="6185916" cy="438774"/>
          </a:xfrm>
        </p:grpSpPr>
        <p:sp>
          <p:nvSpPr>
            <p:cNvPr id="37" name="TextBox 36"/>
            <p:cNvSpPr txBox="1"/>
            <p:nvPr/>
          </p:nvSpPr>
          <p:spPr>
            <a:xfrm>
              <a:off x="1348740" y="8117086"/>
              <a:ext cx="640080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/>
                </a:rPr>
                <a:t>07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157984" y="8117086"/>
              <a:ext cx="5376672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121212"/>
                  </a:solidFill>
                  <a:latin typeface="Aptos"/>
                </a:rPr>
                <a:t>Population </a:t>
              </a:r>
              <a:r>
                <a:rPr lang="en-US" sz="2800" b="1">
                  <a:solidFill>
                    <a:srgbClr val="121212"/>
                  </a:solidFill>
                  <a:latin typeface="Aptos"/>
                </a:rPr>
                <a:t>D</a:t>
              </a:r>
              <a:r>
                <a:rPr sz="2800" b="1">
                  <a:solidFill>
                    <a:srgbClr val="121212"/>
                  </a:solidFill>
                  <a:latin typeface="Aptos"/>
                </a:rPr>
                <a:t>ensity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1417807" y="2533576"/>
            <a:ext cx="5413248" cy="438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121212"/>
                </a:solidFill>
                <a:latin typeface="Aptos"/>
              </a:rPr>
              <a:t>F</a:t>
            </a:r>
            <a:r>
              <a:rPr lang="en-GB" sz="2800" b="1">
                <a:solidFill>
                  <a:srgbClr val="121212"/>
                </a:solidFill>
                <a:latin typeface="Aptos"/>
              </a:rPr>
              <a:t>INDINGS</a:t>
            </a:r>
            <a:endParaRPr sz="2800" b="1">
              <a:solidFill>
                <a:srgbClr val="121212"/>
              </a:solidFill>
              <a:latin typeface="Aptos"/>
            </a:endParaRPr>
          </a:p>
        </p:txBody>
      </p:sp>
      <p:cxnSp>
        <p:nvCxnSpPr>
          <p:cNvPr id="8" name="Connector 15">
            <a:extLst>
              <a:ext uri="{FF2B5EF4-FFF2-40B4-BE49-F238E27FC236}">
                <a16:creationId xmlns:a16="http://schemas.microsoft.com/office/drawing/2014/main" id="{81EF9F7B-F8A3-98C7-82C5-CFC2F69837AE}"/>
              </a:ext>
            </a:extLst>
          </p:cNvPr>
          <p:cNvCxnSpPr>
            <a:cxnSpLocks/>
          </p:cNvCxnSpPr>
          <p:nvPr/>
        </p:nvCxnSpPr>
        <p:spPr>
          <a:xfrm>
            <a:off x="1188720" y="3804958"/>
            <a:ext cx="9116568" cy="0"/>
          </a:xfrm>
          <a:prstGeom prst="line">
            <a:avLst/>
          </a:prstGeom>
          <a:ln w="6096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2">
            <a:extLst>
              <a:ext uri="{FF2B5EF4-FFF2-40B4-BE49-F238E27FC236}">
                <a16:creationId xmlns:a16="http://schemas.microsoft.com/office/drawing/2014/main" id="{E796D9BA-ADAF-7917-5A7A-4F8CC2073DDC}"/>
              </a:ext>
            </a:extLst>
          </p:cNvPr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4BDBB1C-3CC1-09D3-ED36-02DA64814BC4}"/>
              </a:ext>
            </a:extLst>
          </p:cNvPr>
          <p:cNvGrpSpPr/>
          <p:nvPr/>
        </p:nvGrpSpPr>
        <p:grpSpPr>
          <a:xfrm>
            <a:off x="10896600" y="3180302"/>
            <a:ext cx="6912864" cy="1508732"/>
            <a:chOff x="10896600" y="3180302"/>
            <a:chExt cx="6912864" cy="150873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EFBCABB-4554-A3A4-202D-03957ADB6B4B}"/>
                </a:ext>
              </a:extLst>
            </p:cNvPr>
            <p:cNvSpPr txBox="1"/>
            <p:nvPr/>
          </p:nvSpPr>
          <p:spPr>
            <a:xfrm>
              <a:off x="10896600" y="3180302"/>
              <a:ext cx="521207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686868"/>
                  </a:solidFill>
                  <a:latin typeface="Aptos"/>
                </a:rPr>
                <a:t>01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04927AE-9DB1-D68F-8F35-1A8018769B2E}"/>
                </a:ext>
              </a:extLst>
            </p:cNvPr>
            <p:cNvSpPr txBox="1"/>
            <p:nvPr/>
          </p:nvSpPr>
          <p:spPr>
            <a:xfrm>
              <a:off x="11536680" y="3211656"/>
              <a:ext cx="6272784" cy="3760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>
                  <a:solidFill>
                    <a:srgbClr val="121212"/>
                  </a:solidFill>
                  <a:latin typeface="Aptos"/>
                </a:rPr>
                <a:t>GENERATIONAL DIFFERENCES</a:t>
              </a:r>
              <a:endParaRPr sz="2400" b="1">
                <a:solidFill>
                  <a:srgbClr val="121212"/>
                </a:solidFill>
                <a:latin typeface="Apto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52F9495-9163-6980-3B3B-7E7CDF9E1354}"/>
                </a:ext>
              </a:extLst>
            </p:cNvPr>
            <p:cNvSpPr txBox="1"/>
            <p:nvPr/>
          </p:nvSpPr>
          <p:spPr>
            <a:xfrm>
              <a:off x="11554968" y="3614573"/>
              <a:ext cx="5666232" cy="10744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en-US" sz="2200">
                  <a:solidFill>
                    <a:srgbClr val="2C2C2C"/>
                  </a:solidFill>
                  <a:latin typeface="Aptos"/>
                </a:rPr>
                <a:t>National age structure may reflect varying attitudes towards AI across generations due to differences in technological familiarity</a:t>
              </a:r>
              <a:endParaRPr sz="2200" b="0">
                <a:solidFill>
                  <a:srgbClr val="2C2C2C"/>
                </a:solidFill>
                <a:latin typeface="Apto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297A96-78C9-C1EA-7BF4-B524A4D1B89C}"/>
              </a:ext>
            </a:extLst>
          </p:cNvPr>
          <p:cNvGrpSpPr/>
          <p:nvPr/>
        </p:nvGrpSpPr>
        <p:grpSpPr>
          <a:xfrm>
            <a:off x="10896600" y="4956247"/>
            <a:ext cx="6912864" cy="1508732"/>
            <a:chOff x="10896600" y="4956247"/>
            <a:chExt cx="6912864" cy="1508732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59E07B5-C73C-92FE-3D75-87284BF7CF10}"/>
                </a:ext>
              </a:extLst>
            </p:cNvPr>
            <p:cNvSpPr txBox="1"/>
            <p:nvPr/>
          </p:nvSpPr>
          <p:spPr>
            <a:xfrm>
              <a:off x="10896600" y="4956247"/>
              <a:ext cx="521207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686868"/>
                  </a:solidFill>
                  <a:latin typeface="Aptos"/>
                </a:rPr>
                <a:t>02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479949A-0EDF-943A-BF79-2E87DEE97A3E}"/>
                </a:ext>
              </a:extLst>
            </p:cNvPr>
            <p:cNvSpPr txBox="1"/>
            <p:nvPr/>
          </p:nvSpPr>
          <p:spPr>
            <a:xfrm>
              <a:off x="11536680" y="4987601"/>
              <a:ext cx="6272784" cy="3760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>
                  <a:solidFill>
                    <a:srgbClr val="121212"/>
                  </a:solidFill>
                  <a:latin typeface="Aptos"/>
                </a:rPr>
                <a:t>DIGITAL LITERACY</a:t>
              </a:r>
              <a:endParaRPr sz="2400" b="1">
                <a:solidFill>
                  <a:srgbClr val="121212"/>
                </a:solidFill>
                <a:latin typeface="Apto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EFD5F2E-B60D-B70A-F024-2230FAF90A06}"/>
                </a:ext>
              </a:extLst>
            </p:cNvPr>
            <p:cNvSpPr txBox="1"/>
            <p:nvPr/>
          </p:nvSpPr>
          <p:spPr>
            <a:xfrm>
              <a:off x="11554968" y="5390518"/>
              <a:ext cx="5666232" cy="10744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00">
                  <a:solidFill>
                    <a:srgbClr val="2C2C2C"/>
                  </a:solidFill>
                  <a:latin typeface="Aptos"/>
                </a:rPr>
                <a:t>Importance of education and internet usage may reflect difference in digital literacy and exposure to AI technology </a:t>
              </a:r>
              <a:endParaRPr sz="2200" b="0">
                <a:solidFill>
                  <a:srgbClr val="2C2C2C"/>
                </a:solidFill>
                <a:latin typeface="Apto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897A92B-EC8C-52CA-8103-133D0700F278}"/>
              </a:ext>
            </a:extLst>
          </p:cNvPr>
          <p:cNvGrpSpPr/>
          <p:nvPr/>
        </p:nvGrpSpPr>
        <p:grpSpPr>
          <a:xfrm>
            <a:off x="10896600" y="6763547"/>
            <a:ext cx="6884289" cy="1871011"/>
            <a:chOff x="10896600" y="6763547"/>
            <a:chExt cx="6884289" cy="1871011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9539C90-F8A2-6BE0-71F7-B7B7F818E944}"/>
                </a:ext>
              </a:extLst>
            </p:cNvPr>
            <p:cNvSpPr txBox="1"/>
            <p:nvPr/>
          </p:nvSpPr>
          <p:spPr>
            <a:xfrm>
              <a:off x="10896600" y="6763547"/>
              <a:ext cx="521207" cy="438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>
                  <a:solidFill>
                    <a:srgbClr val="686868"/>
                  </a:solidFill>
                  <a:latin typeface="Aptos"/>
                </a:rPr>
                <a:t>03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E0F84B4-111D-1786-26DB-6E4D491A5017}"/>
                </a:ext>
              </a:extLst>
            </p:cNvPr>
            <p:cNvSpPr txBox="1"/>
            <p:nvPr/>
          </p:nvSpPr>
          <p:spPr>
            <a:xfrm>
              <a:off x="11508105" y="6794901"/>
              <a:ext cx="6272784" cy="3760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>
                  <a:solidFill>
                    <a:srgbClr val="121212"/>
                  </a:solidFill>
                  <a:latin typeface="Aptos"/>
                </a:rPr>
                <a:t>COUNTRY DEVELOPMENT</a:t>
              </a:r>
              <a:endParaRPr sz="2400" b="1">
                <a:solidFill>
                  <a:srgbClr val="121212"/>
                </a:solidFill>
                <a:latin typeface="Apto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2565CA0-44EF-2A5E-1B43-17392D7FE355}"/>
                </a:ext>
              </a:extLst>
            </p:cNvPr>
            <p:cNvSpPr txBox="1"/>
            <p:nvPr/>
          </p:nvSpPr>
          <p:spPr>
            <a:xfrm>
              <a:off x="11554968" y="7197818"/>
              <a:ext cx="5742432" cy="14367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200">
                  <a:solidFill>
                    <a:srgbClr val="2C2C2C"/>
                  </a:solidFill>
                  <a:latin typeface="Aptos"/>
                </a:rPr>
                <a:t>Countries with effective governments, high income levels and life expectancy tend to have greater technological exposure and more regulatory environments</a:t>
              </a:r>
              <a:endParaRPr sz="2200" b="0">
                <a:solidFill>
                  <a:srgbClr val="2C2C2C"/>
                </a:solidFill>
                <a:latin typeface="Aptos"/>
              </a:endParaRPr>
            </a:p>
          </p:txBody>
        </p:sp>
      </p:grpSp>
      <p:sp>
        <p:nvSpPr>
          <p:cNvPr id="92" name="TextBox 5">
            <a:extLst>
              <a:ext uri="{FF2B5EF4-FFF2-40B4-BE49-F238E27FC236}">
                <a16:creationId xmlns:a16="http://schemas.microsoft.com/office/drawing/2014/main" id="{391EEB12-89FB-FED1-FD19-631600CD6CC8}"/>
              </a:ext>
            </a:extLst>
          </p:cNvPr>
          <p:cNvSpPr txBox="1"/>
          <p:nvPr/>
        </p:nvSpPr>
        <p:spPr>
          <a:xfrm>
            <a:off x="152400" y="9910438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KAVIN LERTSATTHA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e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179576" y="9079992"/>
            <a:ext cx="15919704" cy="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1C188E-4511-DD00-39FD-C4A780E7B9E9}"/>
              </a:ext>
            </a:extLst>
          </p:cNvPr>
          <p:cNvSpPr txBox="1"/>
          <p:nvPr/>
        </p:nvSpPr>
        <p:spPr>
          <a:xfrm>
            <a:off x="1170432" y="1231567"/>
            <a:ext cx="16276320" cy="975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400">
                <a:solidFill>
                  <a:srgbClr val="000000"/>
                </a:solidFill>
                <a:latin typeface="DM Serif Display"/>
              </a:rPr>
              <a:t>Limitations and Outlook</a:t>
            </a:r>
            <a:endParaRPr sz="6400">
              <a:solidFill>
                <a:srgbClr val="000000"/>
              </a:solidFill>
              <a:latin typeface="DM Serif Display"/>
            </a:endParaRPr>
          </a:p>
        </p:txBody>
      </p:sp>
      <p:cxnSp>
        <p:nvCxnSpPr>
          <p:cNvPr id="17" name="Connector 2">
            <a:extLst>
              <a:ext uri="{FF2B5EF4-FFF2-40B4-BE49-F238E27FC236}">
                <a16:creationId xmlns:a16="http://schemas.microsoft.com/office/drawing/2014/main" id="{C2BC33DE-B3CA-4E50-4F97-C2E434980153}"/>
              </a:ext>
            </a:extLst>
          </p:cNvPr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  <p:sp>
        <p:nvSpPr>
          <p:cNvPr id="28" name="TextBox 5">
            <a:extLst>
              <a:ext uri="{FF2B5EF4-FFF2-40B4-BE49-F238E27FC236}">
                <a16:creationId xmlns:a16="http://schemas.microsoft.com/office/drawing/2014/main" id="{8732159B-734B-6879-E7FB-0E520F1D812F}"/>
              </a:ext>
            </a:extLst>
          </p:cNvPr>
          <p:cNvSpPr txBox="1"/>
          <p:nvPr/>
        </p:nvSpPr>
        <p:spPr>
          <a:xfrm>
            <a:off x="152400" y="9910438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KAVIN LERTSATTHA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66774" y="2497401"/>
            <a:ext cx="7635240" cy="1901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1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66774" y="2497401"/>
            <a:ext cx="86868" cy="1901952"/>
          </a:xfrm>
          <a:prstGeom prst="rect">
            <a:avLst/>
          </a:prstGeom>
          <a:solidFill>
            <a:srgbClr val="99B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86814" y="2667232"/>
            <a:ext cx="47548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SG" sz="3200" b="1">
                <a:solidFill>
                  <a:srgbClr val="99BBC3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1174" y="2693437"/>
            <a:ext cx="629107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99BBC3"/>
                </a:solidFill>
                <a:latin typeface="Aptos"/>
              </a:rPr>
              <a:t>CONCLUSION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3742" y="3228921"/>
            <a:ext cx="6373368" cy="10972"/>
          </a:xfrm>
          <a:prstGeom prst="rect">
            <a:avLst/>
          </a:prstGeom>
          <a:solidFill>
            <a:srgbClr val="99BBC3"/>
          </a:solidFill>
          <a:ln>
            <a:solidFill>
              <a:srgbClr val="99B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81174" y="3347793"/>
            <a:ext cx="637336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2C2C2C"/>
                </a:solidFill>
                <a:latin typeface="Aptos"/>
              </a:rPr>
              <a:t>National</a:t>
            </a:r>
            <a:r>
              <a:rPr sz="2000" b="0">
                <a:solidFill>
                  <a:srgbClr val="2C2C2C"/>
                </a:solidFill>
                <a:latin typeface="Aptos"/>
              </a:rPr>
              <a:t> indicators provide some predictive insight into AI trust, but </a:t>
            </a:r>
            <a:r>
              <a:rPr lang="en-US" sz="2000" b="0">
                <a:solidFill>
                  <a:srgbClr val="2C2C2C"/>
                </a:solidFill>
                <a:latin typeface="Aptos"/>
              </a:rPr>
              <a:t>cannot fully explain the cross-country differences in attitudes</a:t>
            </a:r>
            <a:endParaRPr sz="2000" b="0">
              <a:solidFill>
                <a:srgbClr val="2C2C2C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66774" y="4591377"/>
            <a:ext cx="7635240" cy="1901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1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66774" y="4591377"/>
            <a:ext cx="86868" cy="1901952"/>
          </a:xfrm>
          <a:prstGeom prst="rect">
            <a:avLst/>
          </a:prstGeom>
          <a:solidFill>
            <a:srgbClr val="F6D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86814" y="4761208"/>
            <a:ext cx="47548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SG" sz="3200" b="1">
                <a:solidFill>
                  <a:srgbClr val="F6D38B"/>
                </a:solidFill>
                <a:latin typeface="Aptos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81174" y="4787413"/>
            <a:ext cx="629107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D38B"/>
                </a:solidFill>
                <a:latin typeface="Aptos"/>
              </a:rPr>
              <a:t>LIMITATIONS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3742" y="5322897"/>
            <a:ext cx="6373368" cy="10972"/>
          </a:xfrm>
          <a:prstGeom prst="rect">
            <a:avLst/>
          </a:prstGeom>
          <a:solidFill>
            <a:srgbClr val="F6D38B"/>
          </a:solidFill>
          <a:ln>
            <a:solidFill>
              <a:srgbClr val="F6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081174" y="5441768"/>
            <a:ext cx="637336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2C2C2C"/>
                </a:solidFill>
                <a:latin typeface="Aptos"/>
              </a:rPr>
              <a:t>Labelled dataset contains only 47 countries, most of which are developed countries, so the model does not fully capture the diversity of less developed countries</a:t>
            </a:r>
            <a:endParaRPr sz="2000" b="0">
              <a:solidFill>
                <a:srgbClr val="2C2C2C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166774" y="6685353"/>
            <a:ext cx="7635240" cy="1901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1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66774" y="6685353"/>
            <a:ext cx="86868" cy="1901952"/>
          </a:xfrm>
          <a:prstGeom prst="rect">
            <a:avLst/>
          </a:prstGeom>
          <a:solidFill>
            <a:srgbClr val="677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486814" y="6855184"/>
            <a:ext cx="47548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SG" sz="3200" b="1">
                <a:solidFill>
                  <a:srgbClr val="677759"/>
                </a:solidFill>
                <a:latin typeface="Aptos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1174" y="6881389"/>
            <a:ext cx="629107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677759"/>
                </a:solidFill>
                <a:latin typeface="Aptos"/>
              </a:rPr>
              <a:t>IMPROVEMENTS</a:t>
            </a:r>
            <a:endParaRPr sz="2800" b="1">
              <a:solidFill>
                <a:srgbClr val="677759"/>
              </a:solidFill>
              <a:latin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53742" y="7416873"/>
            <a:ext cx="6373368" cy="10972"/>
          </a:xfrm>
          <a:prstGeom prst="rect">
            <a:avLst/>
          </a:prstGeom>
          <a:solidFill>
            <a:srgbClr val="677759"/>
          </a:solidFill>
          <a:ln>
            <a:solidFill>
              <a:srgbClr val="677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081174" y="7535745"/>
            <a:ext cx="637336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C2C2C"/>
                </a:solidFill>
                <a:latin typeface="Aptos"/>
              </a:rPr>
              <a:t>Expand labelled data across more developing </a:t>
            </a:r>
            <a:r>
              <a:rPr lang="en-US" sz="2000" b="0">
                <a:solidFill>
                  <a:srgbClr val="2C2C2C"/>
                </a:solidFill>
                <a:latin typeface="Aptos"/>
              </a:rPr>
              <a:t>countries</a:t>
            </a:r>
            <a:r>
              <a:rPr sz="2000" b="0">
                <a:solidFill>
                  <a:srgbClr val="2C2C2C"/>
                </a:solidFill>
                <a:latin typeface="Aptos"/>
              </a:rPr>
              <a:t>, then re-evaluate model reliability before drawing stronger conclusions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E259A80-8113-9CB6-F2D7-5835F7155E9C}"/>
              </a:ext>
            </a:extLst>
          </p:cNvPr>
          <p:cNvGrpSpPr/>
          <p:nvPr/>
        </p:nvGrpSpPr>
        <p:grpSpPr>
          <a:xfrm>
            <a:off x="9282074" y="2384875"/>
            <a:ext cx="7674533" cy="6306486"/>
            <a:chOff x="9282074" y="2384875"/>
            <a:chExt cx="7674533" cy="6306486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0CF6A79-52F5-EA82-3B41-A8D8F3D0B7FD}"/>
                </a:ext>
              </a:extLst>
            </p:cNvPr>
            <p:cNvGrpSpPr/>
            <p:nvPr/>
          </p:nvGrpSpPr>
          <p:grpSpPr>
            <a:xfrm>
              <a:off x="9282074" y="2384875"/>
              <a:ext cx="7674533" cy="6306486"/>
              <a:chOff x="9282074" y="2384875"/>
              <a:chExt cx="7674533" cy="630648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006371-9231-2C5C-0F4A-7C00ACA3722F}"/>
                  </a:ext>
                </a:extLst>
              </p:cNvPr>
              <p:cNvSpPr/>
              <p:nvPr/>
            </p:nvSpPr>
            <p:spPr>
              <a:xfrm>
                <a:off x="9282074" y="2384875"/>
                <a:ext cx="7674533" cy="6306486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A6A6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F9F24743-852A-81EC-52A0-67C08A08DC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31984" y="2920636"/>
                <a:ext cx="5915068" cy="5610266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A420D4-4096-EB51-EEC0-6A270ABE20D1}"/>
                  </a:ext>
                </a:extLst>
              </p:cNvPr>
              <p:cNvSpPr txBox="1"/>
              <p:nvPr/>
            </p:nvSpPr>
            <p:spPr>
              <a:xfrm>
                <a:off x="9537347" y="2471633"/>
                <a:ext cx="7419260" cy="63658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b="1">
                    <a:solidFill>
                      <a:srgbClr val="121212"/>
                    </a:solidFill>
                    <a:latin typeface="Aptos"/>
                  </a:rPr>
                  <a:t>LABELLED DATASET IS BIASED TOWARDS MORE DEVELOPED COUNTRIES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DF1261-79FD-94ED-BFB7-1A019C084E8E}"/>
                  </a:ext>
                </a:extLst>
              </p:cNvPr>
              <p:cNvSpPr txBox="1"/>
              <p:nvPr/>
            </p:nvSpPr>
            <p:spPr>
              <a:xfrm>
                <a:off x="12355067" y="4307548"/>
                <a:ext cx="1435359" cy="76783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>
                    <a:solidFill>
                      <a:srgbClr val="6FBF73"/>
                    </a:solidFill>
                    <a:latin typeface="Aptos"/>
                  </a:rPr>
                  <a:t>MORE DEVELOPED</a:t>
                </a:r>
              </a:p>
              <a:p>
                <a:pPr algn="l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>
                    <a:solidFill>
                      <a:srgbClr val="6FBF73"/>
                    </a:solidFill>
                    <a:latin typeface="Aptos"/>
                  </a:rPr>
                  <a:t>COUNTRIES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5F8A8EB-907C-F2FD-D655-8499079649AC}"/>
                  </a:ext>
                </a:extLst>
              </p:cNvPr>
              <p:cNvSpPr txBox="1"/>
              <p:nvPr/>
            </p:nvSpPr>
            <p:spPr>
              <a:xfrm>
                <a:off x="10303260" y="5435640"/>
                <a:ext cx="1435359" cy="76783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r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>
                    <a:solidFill>
                      <a:srgbClr val="C06E6E"/>
                    </a:solidFill>
                    <a:latin typeface="Aptos"/>
                  </a:rPr>
                  <a:t>LESS</a:t>
                </a:r>
              </a:p>
              <a:p>
                <a:pPr algn="r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>
                    <a:solidFill>
                      <a:srgbClr val="C06E6E"/>
                    </a:solidFill>
                    <a:latin typeface="Aptos"/>
                  </a:rPr>
                  <a:t>DEVELOPED</a:t>
                </a:r>
              </a:p>
              <a:p>
                <a:pPr algn="r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>
                    <a:solidFill>
                      <a:srgbClr val="C06E6E"/>
                    </a:solidFill>
                    <a:latin typeface="Aptos"/>
                  </a:rPr>
                  <a:t>COUNTRIES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1F59FAC-081D-1689-8376-4F15DE2B79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03260" y="3353561"/>
                <a:ext cx="4103614" cy="4643849"/>
              </a:xfrm>
              <a:prstGeom prst="line">
                <a:avLst/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1468A602-6094-14A0-61C4-CAB38DDAA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AFAFA"/>
                  </a:clrFrom>
                  <a:clrTo>
                    <a:srgbClr val="FAFAFA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5565762" y="5486417"/>
                <a:ext cx="1066926" cy="722689"/>
              </a:xfrm>
              <a:prstGeom prst="rect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</p:pic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2263CA0-EDA8-4A37-BD83-EAC548FF835B}"/>
                </a:ext>
              </a:extLst>
            </p:cNvPr>
            <p:cNvSpPr/>
            <p:nvPr/>
          </p:nvSpPr>
          <p:spPr>
            <a:xfrm>
              <a:off x="9601200" y="3848100"/>
              <a:ext cx="228600" cy="1910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CD66A4C-2A4B-DF1D-C838-91FCE829E9F5}"/>
                </a:ext>
              </a:extLst>
            </p:cNvPr>
            <p:cNvSpPr/>
            <p:nvPr/>
          </p:nvSpPr>
          <p:spPr>
            <a:xfrm>
              <a:off x="13676126" y="8255376"/>
              <a:ext cx="228600" cy="1910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2C27-A7AB-F019-8AAE-18E2A5D3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EAACA7-BEFA-CE0A-FB3C-921F6A29372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F9A24DC-CFF2-DD66-4C66-07FB07EB840E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7A187E2-1C18-FA8E-89D8-9287F03155CC}"/>
              </a:ext>
            </a:extLst>
          </p:cNvPr>
          <p:cNvSpPr txBox="1"/>
          <p:nvPr/>
        </p:nvSpPr>
        <p:spPr>
          <a:xfrm>
            <a:off x="1166399" y="1233825"/>
            <a:ext cx="6834601" cy="2260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Analysis Approach &amp; Trust Profiles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1F2B06D-D287-114E-662A-FDA254DF098B}"/>
              </a:ext>
            </a:extLst>
          </p:cNvPr>
          <p:cNvSpPr txBox="1"/>
          <p:nvPr/>
        </p:nvSpPr>
        <p:spPr>
          <a:xfrm>
            <a:off x="1166399" y="9142094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TRISTON CHEONG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41A8CAEA-EA6D-79DC-7D86-0928F0654D0C}"/>
              </a:ext>
            </a:extLst>
          </p:cNvPr>
          <p:cNvGrpSpPr/>
          <p:nvPr/>
        </p:nvGrpSpPr>
        <p:grpSpPr>
          <a:xfrm>
            <a:off x="9941463" y="1281518"/>
            <a:ext cx="3345981" cy="3542035"/>
            <a:chOff x="0" y="-47625"/>
            <a:chExt cx="812800" cy="860425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DD96A6C-721E-651C-6A4E-3C5D800BEF8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18BA389F-D3E8-CB28-CA08-E5B1B618C1DA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22E8F26A-F55B-9784-4721-C61300DCF77E}"/>
              </a:ext>
            </a:extLst>
          </p:cNvPr>
          <p:cNvSpPr txBox="1"/>
          <p:nvPr/>
        </p:nvSpPr>
        <p:spPr>
          <a:xfrm>
            <a:off x="10207687" y="2892895"/>
            <a:ext cx="2813532" cy="51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Blind Trust</a:t>
            </a: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3CE7E32-7126-5C3B-7D60-2FFFF136109D}"/>
              </a:ext>
            </a:extLst>
          </p:cNvPr>
          <p:cNvGrpSpPr/>
          <p:nvPr/>
        </p:nvGrpSpPr>
        <p:grpSpPr>
          <a:xfrm>
            <a:off x="9941463" y="5267393"/>
            <a:ext cx="3345981" cy="3542035"/>
            <a:chOff x="0" y="-47625"/>
            <a:chExt cx="812800" cy="86042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A1A9764-0B2A-D069-F8BB-1E27BDFE4D3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837D065-4B51-E5C2-10EF-9283FC7C1880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43106" tIns="43106" rIns="43106" bIns="43106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69700381-F472-C161-3727-B6BFA2D0A2F6}"/>
              </a:ext>
            </a:extLst>
          </p:cNvPr>
          <p:cNvSpPr txBox="1"/>
          <p:nvPr/>
        </p:nvSpPr>
        <p:spPr>
          <a:xfrm>
            <a:off x="10420763" y="6780743"/>
            <a:ext cx="2387379" cy="51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Skeptical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16AD6961-3B47-DB74-5365-9A640D1ACCFD}"/>
              </a:ext>
            </a:extLst>
          </p:cNvPr>
          <p:cNvGrpSpPr/>
          <p:nvPr/>
        </p:nvGrpSpPr>
        <p:grpSpPr>
          <a:xfrm>
            <a:off x="13763694" y="1281518"/>
            <a:ext cx="3345981" cy="3542035"/>
            <a:chOff x="0" y="-47625"/>
            <a:chExt cx="812800" cy="860425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E24034E-CC0C-9903-59AE-817DD706C2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76432057-78EA-77CD-72AC-8B4517E36A2B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821441E0-9570-08C5-9FA0-07F05E56014C}"/>
              </a:ext>
            </a:extLst>
          </p:cNvPr>
          <p:cNvSpPr txBox="1"/>
          <p:nvPr/>
        </p:nvSpPr>
        <p:spPr>
          <a:xfrm>
            <a:off x="14029918" y="2892895"/>
            <a:ext cx="2813532" cy="51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Moderate Trust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C5EF1D6A-46C7-5FB3-C636-4B461FC2E6C1}"/>
              </a:ext>
            </a:extLst>
          </p:cNvPr>
          <p:cNvGrpSpPr/>
          <p:nvPr/>
        </p:nvGrpSpPr>
        <p:grpSpPr>
          <a:xfrm>
            <a:off x="13763694" y="5267393"/>
            <a:ext cx="3345981" cy="3542035"/>
            <a:chOff x="0" y="-47625"/>
            <a:chExt cx="812800" cy="860425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91C9199-894B-5516-E188-DBF9DEC5E10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D4F6AD53-F06C-F029-564D-7C28B3489D06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43106" tIns="43106" rIns="43106" bIns="43106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A405D068-361C-5533-F4CA-C250C1E834B9}"/>
              </a:ext>
            </a:extLst>
          </p:cNvPr>
          <p:cNvSpPr txBox="1"/>
          <p:nvPr/>
        </p:nvSpPr>
        <p:spPr>
          <a:xfrm>
            <a:off x="14242994" y="6585674"/>
            <a:ext cx="2387379" cy="109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Highly Skeptical</a:t>
            </a: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D212CC1A-69F8-B7D6-EFF1-95D7DE2E9D5C}"/>
              </a:ext>
            </a:extLst>
          </p:cNvPr>
          <p:cNvSpPr txBox="1"/>
          <p:nvPr/>
        </p:nvSpPr>
        <p:spPr>
          <a:xfrm>
            <a:off x="1149523" y="4329263"/>
            <a:ext cx="8537402" cy="10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Understand individual-level factors that influence how much a person trusts an AI system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6" name="TextBox 3">
            <a:extLst>
              <a:ext uri="{FF2B5EF4-FFF2-40B4-BE49-F238E27FC236}">
                <a16:creationId xmlns:a16="http://schemas.microsoft.com/office/drawing/2014/main" id="{098EA436-D88F-4A0A-E4D8-D271DE0EF4B4}"/>
              </a:ext>
            </a:extLst>
          </p:cNvPr>
          <p:cNvSpPr txBox="1"/>
          <p:nvPr/>
        </p:nvSpPr>
        <p:spPr>
          <a:xfrm>
            <a:off x="1178860" y="3699376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Purpose</a:t>
            </a: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2BF479B5-72EE-39DB-D925-E86760DE4778}"/>
              </a:ext>
            </a:extLst>
          </p:cNvPr>
          <p:cNvSpPr txBox="1"/>
          <p:nvPr/>
        </p:nvSpPr>
        <p:spPr>
          <a:xfrm>
            <a:off x="1189124" y="6565272"/>
            <a:ext cx="8537402" cy="166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1,000 interaction records </a:t>
            </a:r>
            <a:endParaRPr lang="en-US" sz="2799" b="1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indent="-4572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Multinomial Logistic Regression</a:t>
            </a:r>
          </a:p>
          <a:p>
            <a:pPr marL="457200" indent="-4572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Understand 4 trust 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profiles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9" name="TextBox 3">
            <a:extLst>
              <a:ext uri="{FF2B5EF4-FFF2-40B4-BE49-F238E27FC236}">
                <a16:creationId xmlns:a16="http://schemas.microsoft.com/office/drawing/2014/main" id="{BD3D66BD-FF74-2F58-2A6F-919887BD12BD}"/>
              </a:ext>
            </a:extLst>
          </p:cNvPr>
          <p:cNvSpPr txBox="1"/>
          <p:nvPr/>
        </p:nvSpPr>
        <p:spPr>
          <a:xfrm>
            <a:off x="1218461" y="5935385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Approach</a:t>
            </a:r>
          </a:p>
        </p:txBody>
      </p:sp>
    </p:spTree>
    <p:extLst>
      <p:ext uri="{BB962C8B-B14F-4D97-AF65-F5344CB8AC3E}">
        <p14:creationId xmlns:p14="http://schemas.microsoft.com/office/powerpoint/2010/main" val="1105442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12504726" cy="110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Three Layers of Trust Framework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F94F0216-A213-C3DF-490A-015A6D619DF4}"/>
              </a:ext>
            </a:extLst>
          </p:cNvPr>
          <p:cNvSpPr txBox="1"/>
          <p:nvPr/>
        </p:nvSpPr>
        <p:spPr>
          <a:xfrm>
            <a:off x="1166399" y="9142094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TRISTON CHEONG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886F56C-1E06-CB5D-2EB5-B6E415338B2E}"/>
              </a:ext>
            </a:extLst>
          </p:cNvPr>
          <p:cNvSpPr/>
          <p:nvPr/>
        </p:nvSpPr>
        <p:spPr>
          <a:xfrm>
            <a:off x="1510061" y="3573915"/>
            <a:ext cx="3836922" cy="135866"/>
          </a:xfrm>
          <a:prstGeom prst="roundRect">
            <a:avLst/>
          </a:prstGeom>
          <a:solidFill>
            <a:srgbClr val="6FBF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6E72B66-6978-0D95-D6B4-971A0D61EAFA}"/>
              </a:ext>
            </a:extLst>
          </p:cNvPr>
          <p:cNvSpPr/>
          <p:nvPr/>
        </p:nvSpPr>
        <p:spPr>
          <a:xfrm>
            <a:off x="7226737" y="3573915"/>
            <a:ext cx="3836922" cy="135866"/>
          </a:xfrm>
          <a:prstGeom prst="roundRect">
            <a:avLst/>
          </a:prstGeom>
          <a:solidFill>
            <a:srgbClr val="F6D3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704E1AB-B2E0-1CA3-6DCE-9DC704E9B336}"/>
              </a:ext>
            </a:extLst>
          </p:cNvPr>
          <p:cNvSpPr/>
          <p:nvPr/>
        </p:nvSpPr>
        <p:spPr>
          <a:xfrm>
            <a:off x="12943414" y="3573915"/>
            <a:ext cx="3836922" cy="135866"/>
          </a:xfrm>
          <a:prstGeom prst="roundRect">
            <a:avLst/>
          </a:prstGeom>
          <a:solidFill>
            <a:srgbClr val="FFCD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7A3F2DF1-4EDE-B6A0-218A-53985151ABE0}"/>
              </a:ext>
            </a:extLst>
          </p:cNvPr>
          <p:cNvSpPr txBox="1"/>
          <p:nvPr/>
        </p:nvSpPr>
        <p:spPr>
          <a:xfrm>
            <a:off x="1726102" y="2866589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 b="1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Response Quality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4CC57B3C-C6CA-5C5E-51DD-7278246D3BA8}"/>
              </a:ext>
            </a:extLst>
          </p:cNvPr>
          <p:cNvSpPr txBox="1"/>
          <p:nvPr/>
        </p:nvSpPr>
        <p:spPr>
          <a:xfrm>
            <a:off x="12943414" y="2866589"/>
            <a:ext cx="3836922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User Characteristics</a:t>
            </a:r>
            <a:endParaRPr lang="en-US" sz="2799" b="1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644BF9BB-FB1D-3B34-D402-13985EB573F1}"/>
              </a:ext>
            </a:extLst>
          </p:cNvPr>
          <p:cNvSpPr txBox="1"/>
          <p:nvPr/>
        </p:nvSpPr>
        <p:spPr>
          <a:xfrm>
            <a:off x="7441580" y="2866589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 b="1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Query Context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B7940245-4A8D-442A-5AEE-61B93A87F173}"/>
              </a:ext>
            </a:extLst>
          </p:cNvPr>
          <p:cNvSpPr txBox="1"/>
          <p:nvPr/>
        </p:nvSpPr>
        <p:spPr>
          <a:xfrm>
            <a:off x="1510061" y="4615748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Source citation</a:t>
            </a: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4EEB0EF1-C13E-6B19-2024-4862B6FB9AEE}"/>
              </a:ext>
            </a:extLst>
          </p:cNvPr>
          <p:cNvSpPr txBox="1"/>
          <p:nvPr/>
        </p:nvSpPr>
        <p:spPr>
          <a:xfrm>
            <a:off x="1510060" y="5942310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Hedging language</a:t>
            </a:r>
          </a:p>
        </p:txBody>
      </p:sp>
      <p:sp>
        <p:nvSpPr>
          <p:cNvPr id="28" name="Up Arrow 27">
            <a:extLst>
              <a:ext uri="{FF2B5EF4-FFF2-40B4-BE49-F238E27FC236}">
                <a16:creationId xmlns:a16="http://schemas.microsoft.com/office/drawing/2014/main" id="{B850618F-F192-619D-2A7F-77B41705074A}"/>
              </a:ext>
            </a:extLst>
          </p:cNvPr>
          <p:cNvSpPr/>
          <p:nvPr/>
        </p:nvSpPr>
        <p:spPr>
          <a:xfrm>
            <a:off x="4946933" y="5878960"/>
            <a:ext cx="800100" cy="610010"/>
          </a:xfrm>
          <a:prstGeom prst="upArrow">
            <a:avLst/>
          </a:prstGeom>
          <a:solidFill>
            <a:srgbClr val="6FBF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Up Arrow 28">
            <a:extLst>
              <a:ext uri="{FF2B5EF4-FFF2-40B4-BE49-F238E27FC236}">
                <a16:creationId xmlns:a16="http://schemas.microsoft.com/office/drawing/2014/main" id="{816E3D82-67CE-E54A-AD43-0FC1B9888185}"/>
              </a:ext>
            </a:extLst>
          </p:cNvPr>
          <p:cNvSpPr/>
          <p:nvPr/>
        </p:nvSpPr>
        <p:spPr>
          <a:xfrm rot="10800000">
            <a:off x="4921816" y="4731338"/>
            <a:ext cx="800100" cy="610010"/>
          </a:xfrm>
          <a:prstGeom prst="upArrow">
            <a:avLst/>
          </a:prstGeom>
          <a:solidFill>
            <a:srgbClr val="6FBF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4FCCD5E-B356-0CA7-37BF-CDEF511E1D7C}"/>
              </a:ext>
            </a:extLst>
          </p:cNvPr>
          <p:cNvSpPr/>
          <p:nvPr/>
        </p:nvSpPr>
        <p:spPr>
          <a:xfrm>
            <a:off x="7155591" y="8484072"/>
            <a:ext cx="2844443" cy="151447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000000"/>
              </a:solidFill>
              <a:latin typeface="Open Sauce"/>
              <a:sym typeface="Open Sauce"/>
            </a:endParaRPr>
          </a:p>
          <a:p>
            <a:r>
              <a:rPr lang="en-US">
                <a:solidFill>
                  <a:srgbClr val="000000"/>
                </a:solidFill>
                <a:latin typeface="Open Sauce"/>
                <a:sym typeface="Open Sauce"/>
              </a:rPr>
              <a:t>More skeptic = </a:t>
            </a:r>
          </a:p>
          <a:p>
            <a:endParaRPr lang="en-US">
              <a:solidFill>
                <a:srgbClr val="000000"/>
              </a:solidFill>
              <a:latin typeface="Open Sauce"/>
              <a:sym typeface="Open Sauce"/>
            </a:endParaRPr>
          </a:p>
          <a:p>
            <a:r>
              <a:rPr lang="en-US">
                <a:solidFill>
                  <a:srgbClr val="000000"/>
                </a:solidFill>
                <a:latin typeface="Open Sauce"/>
                <a:sym typeface="Open Sauce"/>
              </a:rPr>
              <a:t>Less skeptic = </a:t>
            </a:r>
          </a:p>
          <a:p>
            <a:endParaRPr lang="en-US"/>
          </a:p>
        </p:txBody>
      </p:sp>
      <p:sp>
        <p:nvSpPr>
          <p:cNvPr id="34" name="Up Arrow 33">
            <a:extLst>
              <a:ext uri="{FF2B5EF4-FFF2-40B4-BE49-F238E27FC236}">
                <a16:creationId xmlns:a16="http://schemas.microsoft.com/office/drawing/2014/main" id="{35D3BFF1-9026-1FC9-489A-91CECD18DF05}"/>
              </a:ext>
            </a:extLst>
          </p:cNvPr>
          <p:cNvSpPr/>
          <p:nvPr/>
        </p:nvSpPr>
        <p:spPr>
          <a:xfrm>
            <a:off x="9143999" y="8739766"/>
            <a:ext cx="627272" cy="478243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Up Arrow 34">
            <a:extLst>
              <a:ext uri="{FF2B5EF4-FFF2-40B4-BE49-F238E27FC236}">
                <a16:creationId xmlns:a16="http://schemas.microsoft.com/office/drawing/2014/main" id="{84ACA55D-17EA-FD07-FD04-50D90F014FCD}"/>
              </a:ext>
            </a:extLst>
          </p:cNvPr>
          <p:cNvSpPr/>
          <p:nvPr/>
        </p:nvSpPr>
        <p:spPr>
          <a:xfrm rot="10800000">
            <a:off x="9162569" y="9429974"/>
            <a:ext cx="630000" cy="475200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">
            <a:extLst>
              <a:ext uri="{FF2B5EF4-FFF2-40B4-BE49-F238E27FC236}">
                <a16:creationId xmlns:a16="http://schemas.microsoft.com/office/drawing/2014/main" id="{11F08A50-0D33-66EF-4E6C-C729D3B00F3C}"/>
              </a:ext>
            </a:extLst>
          </p:cNvPr>
          <p:cNvSpPr txBox="1"/>
          <p:nvPr/>
        </p:nvSpPr>
        <p:spPr>
          <a:xfrm>
            <a:off x="7255791" y="4665958"/>
            <a:ext cx="3590628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Decision importance</a:t>
            </a: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2F7F9E2C-AB9B-B162-B336-19F414DEFC03}"/>
              </a:ext>
            </a:extLst>
          </p:cNvPr>
          <p:cNvSpPr txBox="1"/>
          <p:nvPr/>
        </p:nvSpPr>
        <p:spPr>
          <a:xfrm>
            <a:off x="7255791" y="6004968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Urgenc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 level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8" name="Up Arrow 37">
            <a:extLst>
              <a:ext uri="{FF2B5EF4-FFF2-40B4-BE49-F238E27FC236}">
                <a16:creationId xmlns:a16="http://schemas.microsoft.com/office/drawing/2014/main" id="{E0895CDA-3C86-4791-ADF9-E28290A8B84D}"/>
              </a:ext>
            </a:extLst>
          </p:cNvPr>
          <p:cNvSpPr/>
          <p:nvPr/>
        </p:nvSpPr>
        <p:spPr>
          <a:xfrm>
            <a:off x="11063659" y="4615748"/>
            <a:ext cx="800100" cy="610010"/>
          </a:xfrm>
          <a:prstGeom prst="upArrow">
            <a:avLst/>
          </a:prstGeom>
          <a:solidFill>
            <a:srgbClr val="F6D3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Up Arrow 38">
            <a:extLst>
              <a:ext uri="{FF2B5EF4-FFF2-40B4-BE49-F238E27FC236}">
                <a16:creationId xmlns:a16="http://schemas.microsoft.com/office/drawing/2014/main" id="{31327586-1865-EE3A-E725-FF60807A80AA}"/>
              </a:ext>
            </a:extLst>
          </p:cNvPr>
          <p:cNvSpPr/>
          <p:nvPr/>
        </p:nvSpPr>
        <p:spPr>
          <a:xfrm rot="10800000">
            <a:off x="11063659" y="6008540"/>
            <a:ext cx="800100" cy="610010"/>
          </a:xfrm>
          <a:prstGeom prst="upArrow">
            <a:avLst/>
          </a:prstGeom>
          <a:solidFill>
            <a:srgbClr val="F6D3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">
            <a:extLst>
              <a:ext uri="{FF2B5EF4-FFF2-40B4-BE49-F238E27FC236}">
                <a16:creationId xmlns:a16="http://schemas.microsoft.com/office/drawing/2014/main" id="{143A950A-C726-BF4D-1CC7-79404A282E8E}"/>
              </a:ext>
            </a:extLst>
          </p:cNvPr>
          <p:cNvSpPr txBox="1"/>
          <p:nvPr/>
        </p:nvSpPr>
        <p:spPr>
          <a:xfrm>
            <a:off x="13002824" y="4619593"/>
            <a:ext cx="3590628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familiarity</a:t>
            </a:r>
          </a:p>
        </p:txBody>
      </p:sp>
      <p:sp>
        <p:nvSpPr>
          <p:cNvPr id="41" name="TextBox 3">
            <a:extLst>
              <a:ext uri="{FF2B5EF4-FFF2-40B4-BE49-F238E27FC236}">
                <a16:creationId xmlns:a16="http://schemas.microsoft.com/office/drawing/2014/main" id="{C80E57A9-8A6F-F275-1B90-F29E7BA88CC2}"/>
              </a:ext>
            </a:extLst>
          </p:cNvPr>
          <p:cNvSpPr txBox="1"/>
          <p:nvPr/>
        </p:nvSpPr>
        <p:spPr>
          <a:xfrm>
            <a:off x="13002823" y="5747301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Digital literacy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2" name="Up Arrow 41">
            <a:extLst>
              <a:ext uri="{FF2B5EF4-FFF2-40B4-BE49-F238E27FC236}">
                <a16:creationId xmlns:a16="http://schemas.microsoft.com/office/drawing/2014/main" id="{65A0558C-5356-26EB-0A1C-E837DBEF88D3}"/>
              </a:ext>
            </a:extLst>
          </p:cNvPr>
          <p:cNvSpPr/>
          <p:nvPr/>
        </p:nvSpPr>
        <p:spPr>
          <a:xfrm>
            <a:off x="15977839" y="4600862"/>
            <a:ext cx="800100" cy="610010"/>
          </a:xfrm>
          <a:prstGeom prst="upArrow">
            <a:avLst/>
          </a:prstGeom>
          <a:solidFill>
            <a:srgbClr val="FFCD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98BCF3DB-D845-F8F4-3F58-C2D85272C83D}"/>
              </a:ext>
            </a:extLst>
          </p:cNvPr>
          <p:cNvSpPr txBox="1"/>
          <p:nvPr/>
        </p:nvSpPr>
        <p:spPr>
          <a:xfrm>
            <a:off x="13002823" y="6911707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Education level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E3144D54-93C6-74F1-CF2D-D275CA651D12}"/>
              </a:ext>
            </a:extLst>
          </p:cNvPr>
          <p:cNvSpPr txBox="1"/>
          <p:nvPr/>
        </p:nvSpPr>
        <p:spPr>
          <a:xfrm>
            <a:off x="13002823" y="8091989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Belief alignment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6" name="Up Arrow 45">
            <a:extLst>
              <a:ext uri="{FF2B5EF4-FFF2-40B4-BE49-F238E27FC236}">
                <a16:creationId xmlns:a16="http://schemas.microsoft.com/office/drawing/2014/main" id="{86655AC6-CE2B-089F-0BCE-5E2A1265F042}"/>
              </a:ext>
            </a:extLst>
          </p:cNvPr>
          <p:cNvSpPr/>
          <p:nvPr/>
        </p:nvSpPr>
        <p:spPr>
          <a:xfrm>
            <a:off x="16010592" y="5664143"/>
            <a:ext cx="800100" cy="610010"/>
          </a:xfrm>
          <a:prstGeom prst="upArrow">
            <a:avLst/>
          </a:prstGeom>
          <a:solidFill>
            <a:srgbClr val="FFCD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A8377A4D-710E-9A97-5DB8-C069E1431416}"/>
              </a:ext>
            </a:extLst>
          </p:cNvPr>
          <p:cNvSpPr/>
          <p:nvPr/>
        </p:nvSpPr>
        <p:spPr>
          <a:xfrm>
            <a:off x="16010592" y="6849981"/>
            <a:ext cx="800100" cy="610010"/>
          </a:xfrm>
          <a:prstGeom prst="upArrow">
            <a:avLst/>
          </a:prstGeom>
          <a:solidFill>
            <a:srgbClr val="FFCD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Up Arrow 47">
            <a:extLst>
              <a:ext uri="{FF2B5EF4-FFF2-40B4-BE49-F238E27FC236}">
                <a16:creationId xmlns:a16="http://schemas.microsoft.com/office/drawing/2014/main" id="{2DCA745D-1B1E-466A-80B0-6999DF0C3DE6}"/>
              </a:ext>
            </a:extLst>
          </p:cNvPr>
          <p:cNvSpPr/>
          <p:nvPr/>
        </p:nvSpPr>
        <p:spPr>
          <a:xfrm rot="10800000">
            <a:off x="16026845" y="8031888"/>
            <a:ext cx="800100" cy="610010"/>
          </a:xfrm>
          <a:prstGeom prst="upArrow">
            <a:avLst/>
          </a:prstGeom>
          <a:solidFill>
            <a:srgbClr val="FFCD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2C23-7B30-49D6-07BA-5273F6FC1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B30298-47D9-59FE-D7BB-F581622157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CF6ED7D-51F9-13D3-AD6A-092BCA049F9E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1A2E2DC-EC7A-085B-091A-FA5CD1FD51A0}"/>
              </a:ext>
            </a:extLst>
          </p:cNvPr>
          <p:cNvSpPr txBox="1"/>
          <p:nvPr/>
        </p:nvSpPr>
        <p:spPr>
          <a:xfrm>
            <a:off x="1166398" y="1233825"/>
            <a:ext cx="14321251" cy="110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Response Quality – What the AI Says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1D5E0CB3-4D28-D9FF-4649-23B27E2F95DC}"/>
              </a:ext>
            </a:extLst>
          </p:cNvPr>
          <p:cNvSpPr txBox="1"/>
          <p:nvPr/>
        </p:nvSpPr>
        <p:spPr>
          <a:xfrm>
            <a:off x="1166399" y="9142094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TRISTON CHEONG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383233C-652F-91A9-E50E-29F3EFFE4462}"/>
              </a:ext>
            </a:extLst>
          </p:cNvPr>
          <p:cNvSpPr/>
          <p:nvPr/>
        </p:nvSpPr>
        <p:spPr>
          <a:xfrm>
            <a:off x="4356859" y="7600652"/>
            <a:ext cx="9000000" cy="62737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39EB190D-E327-0BF2-02C5-831970608863}"/>
              </a:ext>
            </a:extLst>
          </p:cNvPr>
          <p:cNvSpPr txBox="1"/>
          <p:nvPr/>
        </p:nvSpPr>
        <p:spPr>
          <a:xfrm>
            <a:off x="13612363" y="5212806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Moderate Trust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10D96D1B-55B7-3C07-3F70-EE94EBCC081B}"/>
              </a:ext>
            </a:extLst>
          </p:cNvPr>
          <p:cNvSpPr txBox="1"/>
          <p:nvPr/>
        </p:nvSpPr>
        <p:spPr>
          <a:xfrm>
            <a:off x="13612364" y="6419157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Skeptical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4587854-E822-34C9-9CA3-92FB44E98EF3}"/>
              </a:ext>
            </a:extLst>
          </p:cNvPr>
          <p:cNvSpPr txBox="1"/>
          <p:nvPr/>
        </p:nvSpPr>
        <p:spPr>
          <a:xfrm>
            <a:off x="13612364" y="7625508"/>
            <a:ext cx="340483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Highly Skeptical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2E1A2F-B925-FFCD-3D7C-EC91F17FB06C}"/>
              </a:ext>
            </a:extLst>
          </p:cNvPr>
          <p:cNvCxnSpPr>
            <a:cxnSpLocks/>
          </p:cNvCxnSpPr>
          <p:nvPr/>
        </p:nvCxnSpPr>
        <p:spPr>
          <a:xfrm>
            <a:off x="13358164" y="3580633"/>
            <a:ext cx="0" cy="5231237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3">
            <a:extLst>
              <a:ext uri="{FF2B5EF4-FFF2-40B4-BE49-F238E27FC236}">
                <a16:creationId xmlns:a16="http://schemas.microsoft.com/office/drawing/2014/main" id="{E336A3F6-687B-C0E5-85E2-42029866DE8E}"/>
              </a:ext>
            </a:extLst>
          </p:cNvPr>
          <p:cNvSpPr txBox="1"/>
          <p:nvPr/>
        </p:nvSpPr>
        <p:spPr>
          <a:xfrm>
            <a:off x="13612364" y="4006455"/>
            <a:ext cx="1956213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Blind Trust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CCE9AEC1-A957-7665-E160-7571366C70BF}"/>
              </a:ext>
            </a:extLst>
          </p:cNvPr>
          <p:cNvSpPr txBox="1"/>
          <p:nvPr/>
        </p:nvSpPr>
        <p:spPr>
          <a:xfrm>
            <a:off x="1166398" y="2381538"/>
            <a:ext cx="16578676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Key finding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Transparency (including source citation) is key to building calibrated trust  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04437DC-E846-A213-C231-34A3B4F53ECF}"/>
              </a:ext>
            </a:extLst>
          </p:cNvPr>
          <p:cNvSpPr/>
          <p:nvPr/>
        </p:nvSpPr>
        <p:spPr>
          <a:xfrm>
            <a:off x="11894359" y="6387942"/>
            <a:ext cx="1440000" cy="62737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710FAAB-95D1-DF44-42FE-8A777093571A}"/>
              </a:ext>
            </a:extLst>
          </p:cNvPr>
          <p:cNvSpPr/>
          <p:nvPr/>
        </p:nvSpPr>
        <p:spPr>
          <a:xfrm>
            <a:off x="12830549" y="5220952"/>
            <a:ext cx="503809" cy="62737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3B78A545-2C55-F256-3169-8B5B4097E120}"/>
              </a:ext>
            </a:extLst>
          </p:cNvPr>
          <p:cNvSpPr txBox="1"/>
          <p:nvPr/>
        </p:nvSpPr>
        <p:spPr>
          <a:xfrm>
            <a:off x="8444510" y="7600652"/>
            <a:ext cx="1088633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36 x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C08B58E3-68E7-11BC-24D1-3939A28B1CE9}"/>
              </a:ext>
            </a:extLst>
          </p:cNvPr>
          <p:cNvSpPr txBox="1"/>
          <p:nvPr/>
        </p:nvSpPr>
        <p:spPr>
          <a:xfrm>
            <a:off x="11942636" y="5268155"/>
            <a:ext cx="1088632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1.5 x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B6D1B760-2CAE-1B1E-80AA-B5479B86138A}"/>
              </a:ext>
            </a:extLst>
          </p:cNvPr>
          <p:cNvSpPr txBox="1"/>
          <p:nvPr/>
        </p:nvSpPr>
        <p:spPr>
          <a:xfrm>
            <a:off x="12379462" y="6406153"/>
            <a:ext cx="1088633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4 x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29CC04AE-39E6-01E1-365F-C792C902A8EC}"/>
              </a:ext>
            </a:extLst>
          </p:cNvPr>
          <p:cNvSpPr txBox="1"/>
          <p:nvPr/>
        </p:nvSpPr>
        <p:spPr>
          <a:xfrm>
            <a:off x="6039280" y="8732025"/>
            <a:ext cx="4575485" cy="503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400" b="1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Lower</a:t>
            </a: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odds of being in CGs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BF34C0-4E13-AB6E-E1A1-437D52C3F5F6}"/>
              </a:ext>
            </a:extLst>
          </p:cNvPr>
          <p:cNvCxnSpPr>
            <a:cxnSpLocks/>
          </p:cNvCxnSpPr>
          <p:nvPr/>
        </p:nvCxnSpPr>
        <p:spPr>
          <a:xfrm flipH="1">
            <a:off x="2294132" y="8687384"/>
            <a:ext cx="10800000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Group 15">
            <a:extLst>
              <a:ext uri="{FF2B5EF4-FFF2-40B4-BE49-F238E27FC236}">
                <a16:creationId xmlns:a16="http://schemas.microsoft.com/office/drawing/2014/main" id="{C1E005E1-732C-2947-088F-82D3CAAC0006}"/>
              </a:ext>
            </a:extLst>
          </p:cNvPr>
          <p:cNvGrpSpPr/>
          <p:nvPr/>
        </p:nvGrpSpPr>
        <p:grpSpPr>
          <a:xfrm>
            <a:off x="13361373" y="4823155"/>
            <a:ext cx="3345981" cy="3542035"/>
            <a:chOff x="0" y="-47625"/>
            <a:chExt cx="812800" cy="860425"/>
          </a:xfrm>
        </p:grpSpPr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F4F9723-96AC-8EC9-1B0D-7545A4B33EC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A61DD065-3ED1-2A47-57B1-C7DF6AFBA6E1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2CD4F0-6AFC-CB81-BE2F-C5C80AB130A2}"/>
              </a:ext>
            </a:extLst>
          </p:cNvPr>
          <p:cNvSpPr txBox="1"/>
          <p:nvPr/>
        </p:nvSpPr>
        <p:spPr>
          <a:xfrm>
            <a:off x="13612363" y="8443485"/>
            <a:ext cx="4037225" cy="1080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Comparison Groups (CG)</a:t>
            </a:r>
          </a:p>
          <a:p>
            <a:pPr lvl="0">
              <a:lnSpc>
                <a:spcPts val="4479"/>
              </a:lnSpc>
            </a:pPr>
            <a:endParaRPr lang="en-US" sz="24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91870F14-2B0B-722E-0CAB-D6F21FE88F5D}"/>
              </a:ext>
            </a:extLst>
          </p:cNvPr>
          <p:cNvSpPr txBox="1"/>
          <p:nvPr/>
        </p:nvSpPr>
        <p:spPr>
          <a:xfrm>
            <a:off x="5649145" y="2994691"/>
            <a:ext cx="5590729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 b="1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Presence of Source Citation</a:t>
            </a:r>
            <a:endParaRPr lang="en-US" sz="2799" b="1" u="sng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325539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7A63-63A5-30FC-6E55-25C67ED04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4C8A48-D2E4-C9A2-9531-C672A699FE87}"/>
              </a:ext>
            </a:extLst>
          </p:cNvPr>
          <p:cNvSpPr/>
          <p:nvPr/>
        </p:nvSpPr>
        <p:spPr>
          <a:xfrm>
            <a:off x="-1765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EE84D18-9E6F-10A9-E785-AFD277E5444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C24E8A2-E57A-6E1B-278D-7D012C472AAB}"/>
              </a:ext>
            </a:extLst>
          </p:cNvPr>
          <p:cNvSpPr txBox="1"/>
          <p:nvPr/>
        </p:nvSpPr>
        <p:spPr>
          <a:xfrm>
            <a:off x="1166399" y="1233825"/>
            <a:ext cx="16692976" cy="110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Query Context – Why the Person is Asking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2567C676-1712-CB04-9813-F3380B57FE65}"/>
              </a:ext>
            </a:extLst>
          </p:cNvPr>
          <p:cNvSpPr txBox="1"/>
          <p:nvPr/>
        </p:nvSpPr>
        <p:spPr>
          <a:xfrm>
            <a:off x="1166399" y="9142094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TRISTON CHEONG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FDF2E1B-2F11-5056-FC77-9703B0EDE7C1}"/>
              </a:ext>
            </a:extLst>
          </p:cNvPr>
          <p:cNvSpPr/>
          <p:nvPr/>
        </p:nvSpPr>
        <p:spPr>
          <a:xfrm>
            <a:off x="4499165" y="7453557"/>
            <a:ext cx="11894713" cy="62737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F2E405B2-15B9-00E7-055B-DE549E23D1E8}"/>
              </a:ext>
            </a:extLst>
          </p:cNvPr>
          <p:cNvSpPr txBox="1"/>
          <p:nvPr/>
        </p:nvSpPr>
        <p:spPr>
          <a:xfrm>
            <a:off x="6684569" y="2997395"/>
            <a:ext cx="5656636" cy="10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4479"/>
              </a:lnSpc>
            </a:pPr>
            <a:r>
              <a:rPr lang="en-US" sz="2799" b="1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Decision importance</a:t>
            </a:r>
          </a:p>
          <a:p>
            <a:pPr lvl="0" algn="ctr">
              <a:lnSpc>
                <a:spcPts val="4479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(Low, Medium, High, or Critical)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92B1A44F-0F70-1756-4688-E578902627D1}"/>
              </a:ext>
            </a:extLst>
          </p:cNvPr>
          <p:cNvSpPr txBox="1"/>
          <p:nvPr/>
        </p:nvSpPr>
        <p:spPr>
          <a:xfrm>
            <a:off x="1403668" y="5025266"/>
            <a:ext cx="2939474" cy="511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Moderate Trust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17777771-9621-5D52-DAC6-EBE8BD54EE1E}"/>
              </a:ext>
            </a:extLst>
          </p:cNvPr>
          <p:cNvSpPr txBox="1"/>
          <p:nvPr/>
        </p:nvSpPr>
        <p:spPr>
          <a:xfrm>
            <a:off x="2533319" y="6265709"/>
            <a:ext cx="1981532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Skeptical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5808ED4B-912B-B27C-DC32-05986AC913C0}"/>
              </a:ext>
            </a:extLst>
          </p:cNvPr>
          <p:cNvSpPr txBox="1"/>
          <p:nvPr/>
        </p:nvSpPr>
        <p:spPr>
          <a:xfrm>
            <a:off x="1322276" y="7492441"/>
            <a:ext cx="3102258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Highly Skeptical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475E3B-2E00-1D45-9C22-7A97FDA2205E}"/>
              </a:ext>
            </a:extLst>
          </p:cNvPr>
          <p:cNvCxnSpPr>
            <a:cxnSpLocks/>
          </p:cNvCxnSpPr>
          <p:nvPr/>
        </p:nvCxnSpPr>
        <p:spPr>
          <a:xfrm>
            <a:off x="4469692" y="3475428"/>
            <a:ext cx="0" cy="5231237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3">
            <a:extLst>
              <a:ext uri="{FF2B5EF4-FFF2-40B4-BE49-F238E27FC236}">
                <a16:creationId xmlns:a16="http://schemas.microsoft.com/office/drawing/2014/main" id="{CC51BE8F-59F5-7529-5962-D572766452BE}"/>
              </a:ext>
            </a:extLst>
          </p:cNvPr>
          <p:cNvSpPr txBox="1"/>
          <p:nvPr/>
        </p:nvSpPr>
        <p:spPr>
          <a:xfrm>
            <a:off x="2192381" y="3784823"/>
            <a:ext cx="2020135" cy="511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Blind Trust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F42F245C-E2B7-BCDA-88F8-D7D08B75DB32}"/>
              </a:ext>
            </a:extLst>
          </p:cNvPr>
          <p:cNvSpPr txBox="1"/>
          <p:nvPr/>
        </p:nvSpPr>
        <p:spPr>
          <a:xfrm>
            <a:off x="1166398" y="2381538"/>
            <a:ext cx="16578676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Key finding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Trust is depressed by high-stakes decisions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0CA9A95-DAC8-742F-6A09-97E991ABA740}"/>
              </a:ext>
            </a:extLst>
          </p:cNvPr>
          <p:cNvSpPr txBox="1"/>
          <p:nvPr/>
        </p:nvSpPr>
        <p:spPr>
          <a:xfrm>
            <a:off x="9902204" y="7473103"/>
            <a:ext cx="1088633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107 x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8514D98-2CFA-93E2-45C1-9FF4D79C059D}"/>
              </a:ext>
            </a:extLst>
          </p:cNvPr>
          <p:cNvSpPr/>
          <p:nvPr/>
        </p:nvSpPr>
        <p:spPr>
          <a:xfrm>
            <a:off x="4504342" y="6319381"/>
            <a:ext cx="1981523" cy="62737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E4B72E3C-A01A-F2ED-73C8-72BFD6B7BC61}"/>
              </a:ext>
            </a:extLst>
          </p:cNvPr>
          <p:cNvSpPr txBox="1"/>
          <p:nvPr/>
        </p:nvSpPr>
        <p:spPr>
          <a:xfrm>
            <a:off x="5224343" y="6335657"/>
            <a:ext cx="1088633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10 x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CD386D-0413-4A59-0A14-760B6D6BC062}"/>
              </a:ext>
            </a:extLst>
          </p:cNvPr>
          <p:cNvSpPr/>
          <p:nvPr/>
        </p:nvSpPr>
        <p:spPr>
          <a:xfrm>
            <a:off x="4504343" y="5056019"/>
            <a:ext cx="245306" cy="62737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0C423596-7215-464E-35A3-855D76933B08}"/>
              </a:ext>
            </a:extLst>
          </p:cNvPr>
          <p:cNvSpPr txBox="1"/>
          <p:nvPr/>
        </p:nvSpPr>
        <p:spPr>
          <a:xfrm>
            <a:off x="4913509" y="5100008"/>
            <a:ext cx="1088632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1.9 x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125063-6956-8236-BA34-30F12A2F213A}"/>
              </a:ext>
            </a:extLst>
          </p:cNvPr>
          <p:cNvCxnSpPr/>
          <p:nvPr/>
        </p:nvCxnSpPr>
        <p:spPr>
          <a:xfrm>
            <a:off x="4733696" y="8579219"/>
            <a:ext cx="10800000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3">
            <a:extLst>
              <a:ext uri="{FF2B5EF4-FFF2-40B4-BE49-F238E27FC236}">
                <a16:creationId xmlns:a16="http://schemas.microsoft.com/office/drawing/2014/main" id="{DDAB3378-B279-28ED-5143-840E23A54582}"/>
              </a:ext>
            </a:extLst>
          </p:cNvPr>
          <p:cNvSpPr txBox="1"/>
          <p:nvPr/>
        </p:nvSpPr>
        <p:spPr>
          <a:xfrm>
            <a:off x="7795873" y="8714306"/>
            <a:ext cx="4320000" cy="503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400" b="1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Higher</a:t>
            </a: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odds of being in CGs</a:t>
            </a:r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F7BA7A18-2553-8A23-8FDE-A352002F9250}"/>
              </a:ext>
            </a:extLst>
          </p:cNvPr>
          <p:cNvGrpSpPr/>
          <p:nvPr/>
        </p:nvGrpSpPr>
        <p:grpSpPr>
          <a:xfrm>
            <a:off x="1060436" y="4679535"/>
            <a:ext cx="3345981" cy="3542035"/>
            <a:chOff x="0" y="-47625"/>
            <a:chExt cx="812800" cy="860425"/>
          </a:xfrm>
        </p:grpSpPr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206660A-AE58-837C-4F7E-1EB1A6A4429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17">
              <a:extLst>
                <a:ext uri="{FF2B5EF4-FFF2-40B4-BE49-F238E27FC236}">
                  <a16:creationId xmlns:a16="http://schemas.microsoft.com/office/drawing/2014/main" id="{A674A17E-47EC-3FB5-FBD2-0A97348830B1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4" name="TextBox 3">
            <a:extLst>
              <a:ext uri="{FF2B5EF4-FFF2-40B4-BE49-F238E27FC236}">
                <a16:creationId xmlns:a16="http://schemas.microsoft.com/office/drawing/2014/main" id="{9CBEDAA5-5CA0-007F-8A2E-B9FC20AEC3F8}"/>
              </a:ext>
            </a:extLst>
          </p:cNvPr>
          <p:cNvSpPr txBox="1"/>
          <p:nvPr/>
        </p:nvSpPr>
        <p:spPr>
          <a:xfrm>
            <a:off x="712424" y="8322623"/>
            <a:ext cx="4037225" cy="1080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Comparison Groups (CG)</a:t>
            </a:r>
          </a:p>
          <a:p>
            <a:pPr lvl="0">
              <a:lnSpc>
                <a:spcPts val="4479"/>
              </a:lnSpc>
            </a:pPr>
            <a:endParaRPr lang="en-US" sz="24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986D929-F5C7-9778-4EB9-34C2D95A0552}"/>
              </a:ext>
            </a:extLst>
          </p:cNvPr>
          <p:cNvSpPr/>
          <p:nvPr/>
        </p:nvSpPr>
        <p:spPr>
          <a:xfrm>
            <a:off x="13538353" y="3281377"/>
            <a:ext cx="4493304" cy="3111020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479"/>
              </a:lnSpc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One-unit increase (e.g. medium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Wingdings" pitchFamily="2" charset="2"/>
              </a:rPr>
              <a:t>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 high) increases the odds of a respondent being Highly Skeptical than a Blind Truster. </a:t>
            </a:r>
            <a:endParaRPr lang="en-US" sz="2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508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D8E6C-9ED4-2B20-3AE0-51EF61A8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D6E6C5-B367-7BFF-C47A-59A86782B45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BC131E6-E97E-9112-F02F-DC1B7AFFCA16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A928D18-B40D-DD04-ECE3-F2098A3C24C9}"/>
              </a:ext>
            </a:extLst>
          </p:cNvPr>
          <p:cNvSpPr txBox="1"/>
          <p:nvPr/>
        </p:nvSpPr>
        <p:spPr>
          <a:xfrm>
            <a:off x="1166399" y="1233825"/>
            <a:ext cx="16692976" cy="110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User Characteristics – Who is Asking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8ADC206B-3246-B82F-9361-7CE54D45873C}"/>
              </a:ext>
            </a:extLst>
          </p:cNvPr>
          <p:cNvSpPr txBox="1"/>
          <p:nvPr/>
        </p:nvSpPr>
        <p:spPr>
          <a:xfrm>
            <a:off x="1166399" y="9142094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TRISTON CHEONG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794B46-FE6B-3B1D-22D8-B3CFCF171E23}"/>
              </a:ext>
            </a:extLst>
          </p:cNvPr>
          <p:cNvSpPr/>
          <p:nvPr/>
        </p:nvSpPr>
        <p:spPr>
          <a:xfrm>
            <a:off x="4499164" y="7453557"/>
            <a:ext cx="5400000" cy="62737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98CD603B-D4BA-753F-48ED-E18CE8222E91}"/>
              </a:ext>
            </a:extLst>
          </p:cNvPr>
          <p:cNvSpPr txBox="1"/>
          <p:nvPr/>
        </p:nvSpPr>
        <p:spPr>
          <a:xfrm>
            <a:off x="5224343" y="2937710"/>
            <a:ext cx="8593957" cy="166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4479"/>
              </a:lnSpc>
            </a:pPr>
            <a:r>
              <a:rPr lang="en-US" sz="2799" b="1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familiarity, digital literacy, education</a:t>
            </a:r>
          </a:p>
          <a:p>
            <a:pPr algn="ctr">
              <a:lnSpc>
                <a:spcPts val="4479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(e.g. Low, Medium, High, or </a:t>
            </a:r>
          </a:p>
          <a:p>
            <a:pPr algn="ctr">
              <a:lnSpc>
                <a:spcPts val="4479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Expert digital literacy)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FCBAFC26-0FD8-B45E-45B3-ED25334271A5}"/>
              </a:ext>
            </a:extLst>
          </p:cNvPr>
          <p:cNvSpPr txBox="1"/>
          <p:nvPr/>
        </p:nvSpPr>
        <p:spPr>
          <a:xfrm>
            <a:off x="1403668" y="5025266"/>
            <a:ext cx="2939474" cy="511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Moderate Trust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E6150080-430F-368D-1298-F8661986BAFA}"/>
              </a:ext>
            </a:extLst>
          </p:cNvPr>
          <p:cNvSpPr txBox="1"/>
          <p:nvPr/>
        </p:nvSpPr>
        <p:spPr>
          <a:xfrm>
            <a:off x="2533319" y="6265709"/>
            <a:ext cx="1981532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Skeptical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5B21549E-C8AB-DA69-BBD8-5AFEAE561422}"/>
              </a:ext>
            </a:extLst>
          </p:cNvPr>
          <p:cNvSpPr txBox="1"/>
          <p:nvPr/>
        </p:nvSpPr>
        <p:spPr>
          <a:xfrm>
            <a:off x="1322276" y="7492441"/>
            <a:ext cx="3102258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Highly Skeptical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2168C7-4C53-BD8A-87AC-140C2BAA831A}"/>
              </a:ext>
            </a:extLst>
          </p:cNvPr>
          <p:cNvCxnSpPr>
            <a:cxnSpLocks/>
          </p:cNvCxnSpPr>
          <p:nvPr/>
        </p:nvCxnSpPr>
        <p:spPr>
          <a:xfrm>
            <a:off x="4469692" y="3475428"/>
            <a:ext cx="0" cy="5231237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3">
            <a:extLst>
              <a:ext uri="{FF2B5EF4-FFF2-40B4-BE49-F238E27FC236}">
                <a16:creationId xmlns:a16="http://schemas.microsoft.com/office/drawing/2014/main" id="{FF52A4F3-E874-80A3-9CCF-86F778A9C37E}"/>
              </a:ext>
            </a:extLst>
          </p:cNvPr>
          <p:cNvSpPr txBox="1"/>
          <p:nvPr/>
        </p:nvSpPr>
        <p:spPr>
          <a:xfrm>
            <a:off x="2192381" y="3784823"/>
            <a:ext cx="2020135" cy="511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Blind Trust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1CF41EFC-8CB3-144E-8352-B95480F888D1}"/>
              </a:ext>
            </a:extLst>
          </p:cNvPr>
          <p:cNvSpPr txBox="1"/>
          <p:nvPr/>
        </p:nvSpPr>
        <p:spPr>
          <a:xfrm>
            <a:off x="1166398" y="2381538"/>
            <a:ext cx="16578676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Key finding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Experienced users tend to be more critical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FD195618-A48B-6461-DC1F-8F5F036B64E2}"/>
              </a:ext>
            </a:extLst>
          </p:cNvPr>
          <p:cNvSpPr txBox="1"/>
          <p:nvPr/>
        </p:nvSpPr>
        <p:spPr>
          <a:xfrm>
            <a:off x="6485865" y="7486060"/>
            <a:ext cx="1854367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3 to 14 x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A89EB64-6B95-A337-59B5-7F9000E0C85F}"/>
              </a:ext>
            </a:extLst>
          </p:cNvPr>
          <p:cNvSpPr/>
          <p:nvPr/>
        </p:nvSpPr>
        <p:spPr>
          <a:xfrm>
            <a:off x="4504342" y="6319381"/>
            <a:ext cx="720001" cy="62737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D316E07D-F2FF-69B0-677C-18F917E69710}"/>
              </a:ext>
            </a:extLst>
          </p:cNvPr>
          <p:cNvSpPr txBox="1"/>
          <p:nvPr/>
        </p:nvSpPr>
        <p:spPr>
          <a:xfrm>
            <a:off x="5430734" y="6305165"/>
            <a:ext cx="1981514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2.1 to 2.7 x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647F8AD-8D43-7306-BC89-993066AF69BE}"/>
              </a:ext>
            </a:extLst>
          </p:cNvPr>
          <p:cNvSpPr/>
          <p:nvPr/>
        </p:nvSpPr>
        <p:spPr>
          <a:xfrm>
            <a:off x="4504343" y="5056019"/>
            <a:ext cx="245306" cy="62737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5A74A7-6413-F882-5AB0-0CF0C3167346}"/>
              </a:ext>
            </a:extLst>
          </p:cNvPr>
          <p:cNvCxnSpPr/>
          <p:nvPr/>
        </p:nvCxnSpPr>
        <p:spPr>
          <a:xfrm>
            <a:off x="4749649" y="8601421"/>
            <a:ext cx="10800000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3">
            <a:extLst>
              <a:ext uri="{FF2B5EF4-FFF2-40B4-BE49-F238E27FC236}">
                <a16:creationId xmlns:a16="http://schemas.microsoft.com/office/drawing/2014/main" id="{C4EFE17E-3944-6755-88F0-77315FC5A6D2}"/>
              </a:ext>
            </a:extLst>
          </p:cNvPr>
          <p:cNvSpPr txBox="1"/>
          <p:nvPr/>
        </p:nvSpPr>
        <p:spPr>
          <a:xfrm>
            <a:off x="7739164" y="8642260"/>
            <a:ext cx="4320000" cy="503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400" b="1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Higher</a:t>
            </a: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odds of being in CGs</a:t>
            </a:r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188E8E06-4DB1-B7E9-4B87-6E297481464F}"/>
              </a:ext>
            </a:extLst>
          </p:cNvPr>
          <p:cNvGrpSpPr/>
          <p:nvPr/>
        </p:nvGrpSpPr>
        <p:grpSpPr>
          <a:xfrm>
            <a:off x="1060436" y="4679535"/>
            <a:ext cx="3345981" cy="3542035"/>
            <a:chOff x="0" y="-47625"/>
            <a:chExt cx="812800" cy="860425"/>
          </a:xfrm>
        </p:grpSpPr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B4985B7-856E-91BB-8333-00AD1CA7C1D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17">
              <a:extLst>
                <a:ext uri="{FF2B5EF4-FFF2-40B4-BE49-F238E27FC236}">
                  <a16:creationId xmlns:a16="http://schemas.microsoft.com/office/drawing/2014/main" id="{4AE4CADE-87F3-4187-9AAB-1F93F97CA7F9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4" name="TextBox 3">
            <a:extLst>
              <a:ext uri="{FF2B5EF4-FFF2-40B4-BE49-F238E27FC236}">
                <a16:creationId xmlns:a16="http://schemas.microsoft.com/office/drawing/2014/main" id="{6611B79A-D678-6A33-DBE3-B4A4625A34E7}"/>
              </a:ext>
            </a:extLst>
          </p:cNvPr>
          <p:cNvSpPr txBox="1"/>
          <p:nvPr/>
        </p:nvSpPr>
        <p:spPr>
          <a:xfrm>
            <a:off x="712424" y="8322623"/>
            <a:ext cx="4037225" cy="1080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Comparison Groups (CG)</a:t>
            </a:r>
          </a:p>
          <a:p>
            <a:pPr lvl="0">
              <a:lnSpc>
                <a:spcPts val="4479"/>
              </a:lnSpc>
            </a:pPr>
            <a:endParaRPr lang="en-US" sz="24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17BF64FE-EEBC-DB36-DD3E-779AD8AAABE8}"/>
              </a:ext>
            </a:extLst>
          </p:cNvPr>
          <p:cNvSpPr txBox="1"/>
          <p:nvPr/>
        </p:nvSpPr>
        <p:spPr>
          <a:xfrm>
            <a:off x="4864342" y="5105896"/>
            <a:ext cx="6165347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1.2 to 1.6 x (Not sig for AI familiarity)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AA41FD-319E-7E6C-3F01-56F8D900E930}"/>
              </a:ext>
            </a:extLst>
          </p:cNvPr>
          <p:cNvSpPr/>
          <p:nvPr/>
        </p:nvSpPr>
        <p:spPr>
          <a:xfrm>
            <a:off x="13538353" y="3281377"/>
            <a:ext cx="4493304" cy="3111020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479"/>
              </a:lnSpc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One-unit increase (e.g. medium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Wingdings" pitchFamily="2" charset="2"/>
              </a:rPr>
              <a:t>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 high) increases the odds of a respondent being Highly Skeptical than a Blind Truster. </a:t>
            </a:r>
            <a:endParaRPr lang="en-US" sz="2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666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6E7B-F88B-D47F-B91E-8A6AB817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20238D-CBC1-FAF2-84DD-C7CDD49379D6}"/>
              </a:ext>
            </a:extLst>
          </p:cNvPr>
          <p:cNvSpPr/>
          <p:nvPr/>
        </p:nvSpPr>
        <p:spPr>
          <a:xfrm>
            <a:off x="0" y="1403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D53081A-6530-147E-F40D-9750320AFC2D}"/>
              </a:ext>
            </a:extLst>
          </p:cNvPr>
          <p:cNvGrpSpPr/>
          <p:nvPr/>
        </p:nvGrpSpPr>
        <p:grpSpPr>
          <a:xfrm>
            <a:off x="1166397" y="3162300"/>
            <a:ext cx="5026555" cy="5079873"/>
            <a:chOff x="0" y="-47625"/>
            <a:chExt cx="4489857" cy="453748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83C5288-8BCF-B0A9-DCDF-FD13C1E73A72}"/>
                </a:ext>
              </a:extLst>
            </p:cNvPr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A2A12D1-6F25-E217-B599-17626A569D70}"/>
                </a:ext>
              </a:extLst>
            </p:cNvPr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59313D7A-73CB-5AFD-904E-0AD538A884B2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93F8B91-5B12-8081-9E8F-07C808AAFC98}"/>
              </a:ext>
            </a:extLst>
          </p:cNvPr>
          <p:cNvGrpSpPr/>
          <p:nvPr/>
        </p:nvGrpSpPr>
        <p:grpSpPr>
          <a:xfrm>
            <a:off x="6630723" y="3108982"/>
            <a:ext cx="5026555" cy="5079873"/>
            <a:chOff x="0" y="-47625"/>
            <a:chExt cx="4489857" cy="4537482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0462F93-5E5D-506F-021E-6DCF4F017241}"/>
                </a:ext>
              </a:extLst>
            </p:cNvPr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D6C2BB1-3B66-0EBC-E989-76AD7B54793E}"/>
                </a:ext>
              </a:extLst>
            </p:cNvPr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0C5D9EE-2A25-21CE-B046-60FC78CD3BD0}"/>
              </a:ext>
            </a:extLst>
          </p:cNvPr>
          <p:cNvGrpSpPr/>
          <p:nvPr/>
        </p:nvGrpSpPr>
        <p:grpSpPr>
          <a:xfrm>
            <a:off x="12095047" y="3108982"/>
            <a:ext cx="5026555" cy="5079873"/>
            <a:chOff x="0" y="-47625"/>
            <a:chExt cx="4489857" cy="453748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55A79E8-9AE5-4BF3-47FE-C9A611F80CED}"/>
                </a:ext>
              </a:extLst>
            </p:cNvPr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D7CA589-380C-D580-68EE-FAA543D69523}"/>
                </a:ext>
              </a:extLst>
            </p:cNvPr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DDB525C-7B3F-B885-5AB9-CEE8FF4182A4}"/>
              </a:ext>
            </a:extLst>
          </p:cNvPr>
          <p:cNvSpPr txBox="1"/>
          <p:nvPr/>
        </p:nvSpPr>
        <p:spPr>
          <a:xfrm>
            <a:off x="1166399" y="1233825"/>
            <a:ext cx="15945676" cy="110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Understanding AI Trust Loss 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958CD6D-F123-6D28-3B52-7643DD8BB051}"/>
              </a:ext>
            </a:extLst>
          </p:cNvPr>
          <p:cNvSpPr txBox="1"/>
          <p:nvPr/>
        </p:nvSpPr>
        <p:spPr>
          <a:xfrm>
            <a:off x="1541259" y="6005722"/>
            <a:ext cx="4276833" cy="166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What happens to user trust when AI systems make mistakes?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D155AD9-127D-FD47-8424-3B66864646F1}"/>
              </a:ext>
            </a:extLst>
          </p:cNvPr>
          <p:cNvSpPr txBox="1"/>
          <p:nvPr/>
        </p:nvSpPr>
        <p:spPr>
          <a:xfrm>
            <a:off x="7005583" y="6005722"/>
            <a:ext cx="4276833" cy="166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 the loss of trust permanent or recoverable?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D4FB1AD-45C8-C91A-9037-E46803EFD8DB}"/>
              </a:ext>
            </a:extLst>
          </p:cNvPr>
          <p:cNvSpPr txBox="1"/>
          <p:nvPr/>
        </p:nvSpPr>
        <p:spPr>
          <a:xfrm>
            <a:off x="12469907" y="6005722"/>
            <a:ext cx="4276833" cy="166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What makes a person lose more, or less trust than someone else?</a:t>
            </a:r>
            <a:endParaRPr lang="en-US" sz="2799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4533EA9E-885A-83D0-2DF4-9C980D2E4B6B}"/>
              </a:ext>
            </a:extLst>
          </p:cNvPr>
          <p:cNvSpPr txBox="1"/>
          <p:nvPr/>
        </p:nvSpPr>
        <p:spPr>
          <a:xfrm>
            <a:off x="1175924" y="2421227"/>
            <a:ext cx="15945677" cy="436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LLM-based tools have inherent limitations and are prone to errors and hallucinations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6CF92515-D2E9-B7BF-CFF7-BE2C9373A677}"/>
              </a:ext>
            </a:extLst>
          </p:cNvPr>
          <p:cNvSpPr txBox="1"/>
          <p:nvPr/>
        </p:nvSpPr>
        <p:spPr>
          <a:xfrm>
            <a:off x="1175924" y="8489930"/>
            <a:ext cx="16273876" cy="430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200" b="1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Dataset: </a:t>
            </a:r>
            <a:r>
              <a:rPr lang="en-US" sz="22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301 records of individual AI use sessions with details on users, the errors encountered, and their trust impact  </a:t>
            </a:r>
            <a:r>
              <a:rPr lang="en-US" sz="2200" b="1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grpSp>
        <p:nvGrpSpPr>
          <p:cNvPr id="34" name="Google Shape;10237;p88">
            <a:extLst>
              <a:ext uri="{FF2B5EF4-FFF2-40B4-BE49-F238E27FC236}">
                <a16:creationId xmlns:a16="http://schemas.microsoft.com/office/drawing/2014/main" id="{299089BC-9D1F-CF93-4FAF-ECEC824714B5}"/>
              </a:ext>
            </a:extLst>
          </p:cNvPr>
          <p:cNvGrpSpPr/>
          <p:nvPr/>
        </p:nvGrpSpPr>
        <p:grpSpPr>
          <a:xfrm>
            <a:off x="8407720" y="3873898"/>
            <a:ext cx="1472560" cy="1435466"/>
            <a:chOff x="-31817400" y="3910025"/>
            <a:chExt cx="301675" cy="294075"/>
          </a:xfrm>
          <a:solidFill>
            <a:schemeClr val="tx1"/>
          </a:solidFill>
        </p:grpSpPr>
        <p:sp>
          <p:nvSpPr>
            <p:cNvPr id="35" name="Google Shape;10238;p88">
              <a:extLst>
                <a:ext uri="{FF2B5EF4-FFF2-40B4-BE49-F238E27FC236}">
                  <a16:creationId xmlns:a16="http://schemas.microsoft.com/office/drawing/2014/main" id="{46A51E18-E7F5-ABCC-444D-C8323C003496}"/>
                </a:ext>
              </a:extLst>
            </p:cNvPr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239;p88">
              <a:extLst>
                <a:ext uri="{FF2B5EF4-FFF2-40B4-BE49-F238E27FC236}">
                  <a16:creationId xmlns:a16="http://schemas.microsoft.com/office/drawing/2014/main" id="{7DCD17AE-1BCE-7494-8515-868C6877E33D}"/>
                </a:ext>
              </a:extLst>
            </p:cNvPr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240;p88">
              <a:extLst>
                <a:ext uri="{FF2B5EF4-FFF2-40B4-BE49-F238E27FC236}">
                  <a16:creationId xmlns:a16="http://schemas.microsoft.com/office/drawing/2014/main" id="{F9825293-46D3-3BE9-8763-A1314CFF47D2}"/>
                </a:ext>
              </a:extLst>
            </p:cNvPr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11884;p91">
            <a:extLst>
              <a:ext uri="{FF2B5EF4-FFF2-40B4-BE49-F238E27FC236}">
                <a16:creationId xmlns:a16="http://schemas.microsoft.com/office/drawing/2014/main" id="{01E47747-B4E8-EB67-2D98-F3CEE5EE1B7A}"/>
              </a:ext>
            </a:extLst>
          </p:cNvPr>
          <p:cNvGrpSpPr/>
          <p:nvPr/>
        </p:nvGrpSpPr>
        <p:grpSpPr>
          <a:xfrm>
            <a:off x="3146273" y="3873899"/>
            <a:ext cx="1120927" cy="1470474"/>
            <a:chOff x="-3365275" y="3253275"/>
            <a:chExt cx="222150" cy="291425"/>
          </a:xfrm>
          <a:solidFill>
            <a:schemeClr val="tx1"/>
          </a:solidFill>
        </p:grpSpPr>
        <p:sp>
          <p:nvSpPr>
            <p:cNvPr id="39" name="Google Shape;11885;p91">
              <a:extLst>
                <a:ext uri="{FF2B5EF4-FFF2-40B4-BE49-F238E27FC236}">
                  <a16:creationId xmlns:a16="http://schemas.microsoft.com/office/drawing/2014/main" id="{CF1D72A6-6B4A-3DBA-6518-5FD89FC166B9}"/>
                </a:ext>
              </a:extLst>
            </p:cNvPr>
            <p:cNvSpPr/>
            <p:nvPr/>
          </p:nvSpPr>
          <p:spPr>
            <a:xfrm>
              <a:off x="-3365275" y="3253275"/>
              <a:ext cx="222150" cy="291425"/>
            </a:xfrm>
            <a:custGeom>
              <a:avLst/>
              <a:gdLst/>
              <a:ahLst/>
              <a:cxnLst/>
              <a:rect l="l" t="t" r="r" b="b"/>
              <a:pathLst>
                <a:path w="8886" h="11657" extrusionOk="0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886;p91">
              <a:extLst>
                <a:ext uri="{FF2B5EF4-FFF2-40B4-BE49-F238E27FC236}">
                  <a16:creationId xmlns:a16="http://schemas.microsoft.com/office/drawing/2014/main" id="{A99E81A4-0977-55F7-18A4-AE72A94D27D3}"/>
                </a:ext>
              </a:extLst>
            </p:cNvPr>
            <p:cNvSpPr/>
            <p:nvPr/>
          </p:nvSpPr>
          <p:spPr>
            <a:xfrm>
              <a:off x="-3314075" y="3476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11770;p91">
            <a:extLst>
              <a:ext uri="{FF2B5EF4-FFF2-40B4-BE49-F238E27FC236}">
                <a16:creationId xmlns:a16="http://schemas.microsoft.com/office/drawing/2014/main" id="{8628E14C-047F-0D1C-6ECB-F0F6A9840280}"/>
              </a:ext>
            </a:extLst>
          </p:cNvPr>
          <p:cNvGrpSpPr/>
          <p:nvPr/>
        </p:nvGrpSpPr>
        <p:grpSpPr>
          <a:xfrm>
            <a:off x="13868380" y="3803859"/>
            <a:ext cx="1511088" cy="1502809"/>
            <a:chOff x="-5971525" y="3273750"/>
            <a:chExt cx="292250" cy="290650"/>
          </a:xfrm>
          <a:solidFill>
            <a:schemeClr val="tx1"/>
          </a:solidFill>
        </p:grpSpPr>
        <p:sp>
          <p:nvSpPr>
            <p:cNvPr id="42" name="Google Shape;11771;p91">
              <a:extLst>
                <a:ext uri="{FF2B5EF4-FFF2-40B4-BE49-F238E27FC236}">
                  <a16:creationId xmlns:a16="http://schemas.microsoft.com/office/drawing/2014/main" id="{5DD5598A-09E2-80FB-7D61-F8C449D929D9}"/>
                </a:ext>
              </a:extLst>
            </p:cNvPr>
            <p:cNvSpPr/>
            <p:nvPr/>
          </p:nvSpPr>
          <p:spPr>
            <a:xfrm>
              <a:off x="-5868325" y="3273750"/>
              <a:ext cx="85075" cy="84300"/>
            </a:xfrm>
            <a:custGeom>
              <a:avLst/>
              <a:gdLst/>
              <a:ahLst/>
              <a:cxnLst/>
              <a:rect l="l" t="t" r="r" b="b"/>
              <a:pathLst>
                <a:path w="3403" h="3372" extrusionOk="0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772;p91">
              <a:extLst>
                <a:ext uri="{FF2B5EF4-FFF2-40B4-BE49-F238E27FC236}">
                  <a16:creationId xmlns:a16="http://schemas.microsoft.com/office/drawing/2014/main" id="{82EB186A-7DDA-12FE-29C7-1039C1985528}"/>
                </a:ext>
              </a:extLst>
            </p:cNvPr>
            <p:cNvSpPr/>
            <p:nvPr/>
          </p:nvSpPr>
          <p:spPr>
            <a:xfrm>
              <a:off x="-5971525" y="3308400"/>
              <a:ext cx="292250" cy="256000"/>
            </a:xfrm>
            <a:custGeom>
              <a:avLst/>
              <a:gdLst/>
              <a:ahLst/>
              <a:cxnLst/>
              <a:rect l="l" t="t" r="r" b="b"/>
              <a:pathLst>
                <a:path w="11690" h="10240" extrusionOk="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TextBox 5">
            <a:extLst>
              <a:ext uri="{FF2B5EF4-FFF2-40B4-BE49-F238E27FC236}">
                <a16:creationId xmlns:a16="http://schemas.microsoft.com/office/drawing/2014/main" id="{A92A9F3D-1407-15F4-3785-34CE8472BBB1}"/>
              </a:ext>
            </a:extLst>
          </p:cNvPr>
          <p:cNvSpPr txBox="1"/>
          <p:nvPr/>
        </p:nvSpPr>
        <p:spPr>
          <a:xfrm>
            <a:off x="152400" y="9910438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TIMOTHY TAN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2657856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1981E-3957-4724-D4C4-4F7D2D7C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8DBA7D-2CB1-BA9F-A5D6-4A74281B2542}"/>
              </a:ext>
            </a:extLst>
          </p:cNvPr>
          <p:cNvSpPr/>
          <p:nvPr/>
        </p:nvSpPr>
        <p:spPr>
          <a:xfrm>
            <a:off x="0" y="1713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4344C16-1EB2-6E22-1686-5B673CDCE42E}"/>
              </a:ext>
            </a:extLst>
          </p:cNvPr>
          <p:cNvSpPr txBox="1"/>
          <p:nvPr/>
        </p:nvSpPr>
        <p:spPr>
          <a:xfrm>
            <a:off x="1166399" y="1233825"/>
            <a:ext cx="15316053" cy="110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Impact of AI Errors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54E1DB72-D59A-A6B7-D8C8-37A939B2756F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A8F5DE71-2A98-680C-3359-129488302C9D}"/>
              </a:ext>
            </a:extLst>
          </p:cNvPr>
          <p:cNvSpPr txBox="1"/>
          <p:nvPr/>
        </p:nvSpPr>
        <p:spPr>
          <a:xfrm>
            <a:off x="1175924" y="2247900"/>
            <a:ext cx="15945677" cy="436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84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When AI </a:t>
            </a: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makes mistakes, loss of trust is almost </a:t>
            </a:r>
            <a:r>
              <a:rPr lang="en-US" sz="2400" b="1">
                <a:latin typeface="Open Sauce"/>
                <a:ea typeface="Open Sauce"/>
                <a:cs typeface="Open Sauce"/>
                <a:sym typeface="Open Sauce"/>
              </a:rPr>
              <a:t>guaranteed</a:t>
            </a:r>
            <a:r>
              <a:rPr lang="en-US" sz="2400" b="1">
                <a:solidFill>
                  <a:srgbClr val="C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endParaRPr lang="en-US" sz="2400" b="1" u="none" strike="noStrike">
              <a:solidFill>
                <a:srgbClr val="C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710B8FC-A363-66C1-1128-70C75C240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995724"/>
            <a:ext cx="7709877" cy="5332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BF49D73-E1F9-A33E-44F0-FE54363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5924" y="2995724"/>
            <a:ext cx="5529676" cy="53329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TextBox 3">
            <a:extLst>
              <a:ext uri="{FF2B5EF4-FFF2-40B4-BE49-F238E27FC236}">
                <a16:creationId xmlns:a16="http://schemas.microsoft.com/office/drawing/2014/main" id="{369FDB5A-190A-EC6B-7AD9-32C67E0F3AA5}"/>
              </a:ext>
            </a:extLst>
          </p:cNvPr>
          <p:cNvSpPr txBox="1"/>
          <p:nvPr/>
        </p:nvSpPr>
        <p:spPr>
          <a:xfrm>
            <a:off x="7941572" y="8552462"/>
            <a:ext cx="770987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24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</a:t>
            </a:r>
            <a:r>
              <a:rPr lang="en-US" sz="2400" b="1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magnitude</a:t>
            </a:r>
            <a:r>
              <a:rPr lang="en-US" sz="24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of initial trust loss determines whether that trust can be </a:t>
            </a:r>
            <a:r>
              <a:rPr lang="en-US" sz="2400" b="1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eventually regained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A33E0E-7CCA-9BBC-001E-10C68398E1B5}"/>
              </a:ext>
            </a:extLst>
          </p:cNvPr>
          <p:cNvSpPr/>
          <p:nvPr/>
        </p:nvSpPr>
        <p:spPr>
          <a:xfrm>
            <a:off x="11062677" y="3162300"/>
            <a:ext cx="2133600" cy="4419600"/>
          </a:xfrm>
          <a:prstGeom prst="rect">
            <a:avLst/>
          </a:prstGeom>
          <a:solidFill>
            <a:srgbClr val="FFFF00">
              <a:alpha val="1962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51B018E-F05D-A3AD-9274-B73C599300AE}"/>
              </a:ext>
            </a:extLst>
          </p:cNvPr>
          <p:cNvSpPr/>
          <p:nvPr/>
        </p:nvSpPr>
        <p:spPr>
          <a:xfrm>
            <a:off x="8852877" y="3133917"/>
            <a:ext cx="2209800" cy="4419600"/>
          </a:xfrm>
          <a:prstGeom prst="rect">
            <a:avLst/>
          </a:prstGeom>
          <a:solidFill>
            <a:srgbClr val="92D050">
              <a:alpha val="1962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75D91F-93CA-3004-C320-4ADADD1FC25E}"/>
              </a:ext>
            </a:extLst>
          </p:cNvPr>
          <p:cNvSpPr/>
          <p:nvPr/>
        </p:nvSpPr>
        <p:spPr>
          <a:xfrm>
            <a:off x="13196278" y="3133917"/>
            <a:ext cx="2286000" cy="4419600"/>
          </a:xfrm>
          <a:prstGeom prst="rect">
            <a:avLst/>
          </a:prstGeom>
          <a:solidFill>
            <a:srgbClr val="FF0000">
              <a:alpha val="1962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EEE82-D21C-7C7E-917C-5499CE26A416}"/>
              </a:ext>
            </a:extLst>
          </p:cNvPr>
          <p:cNvSpPr txBox="1"/>
          <p:nvPr/>
        </p:nvSpPr>
        <p:spPr>
          <a:xfrm>
            <a:off x="9239471" y="3159323"/>
            <a:ext cx="1436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Trust recoverable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15E2F7-736C-98EA-F6A2-803DE6AC3500}"/>
              </a:ext>
            </a:extLst>
          </p:cNvPr>
          <p:cNvSpPr txBox="1"/>
          <p:nvPr/>
        </p:nvSpPr>
        <p:spPr>
          <a:xfrm>
            <a:off x="11411171" y="3159323"/>
            <a:ext cx="1568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Recovery uncertain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D3EF91-AA4E-B89B-D3C4-7F17F599AB6E}"/>
              </a:ext>
            </a:extLst>
          </p:cNvPr>
          <p:cNvSpPr txBox="1"/>
          <p:nvPr/>
        </p:nvSpPr>
        <p:spPr>
          <a:xfrm>
            <a:off x="13384753" y="3159323"/>
            <a:ext cx="1909049" cy="307777"/>
          </a:xfrm>
          <a:prstGeom prst="rect">
            <a:avLst/>
          </a:prstGeom>
          <a:solidFill>
            <a:srgbClr val="FFCDCD"/>
          </a:solidFill>
        </p:spPr>
        <p:txBody>
          <a:bodyPr wrap="none" rtlCol="0">
            <a:spAutoFit/>
          </a:bodyPr>
          <a:lstStyle/>
          <a:p>
            <a:r>
              <a:rPr lang="en-US" sz="1400" i="1"/>
              <a:t>Full recovery impossible</a:t>
            </a: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ACFD25AA-E1C8-275C-E1C6-F11B7A427EA5}"/>
              </a:ext>
            </a:extLst>
          </p:cNvPr>
          <p:cNvSpPr txBox="1"/>
          <p:nvPr/>
        </p:nvSpPr>
        <p:spPr>
          <a:xfrm>
            <a:off x="1202427" y="8552462"/>
            <a:ext cx="550317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24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Trust lost after an error is detected </a:t>
            </a:r>
            <a:r>
              <a:rPr lang="en-US" sz="2400" b="1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varies widely</a:t>
            </a: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07372E21-E16B-8AD3-68F4-D30B160D38A5}"/>
              </a:ext>
            </a:extLst>
          </p:cNvPr>
          <p:cNvSpPr txBox="1"/>
          <p:nvPr/>
        </p:nvSpPr>
        <p:spPr>
          <a:xfrm>
            <a:off x="152400" y="9910438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TIMOTHY TAN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254607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5E97A-3A77-5555-FE05-9108A8C4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1595D8-38E5-546C-1A87-13B15A4A6457}"/>
              </a:ext>
            </a:extLst>
          </p:cNvPr>
          <p:cNvSpPr/>
          <p:nvPr/>
        </p:nvSpPr>
        <p:spPr>
          <a:xfrm>
            <a:off x="0" y="1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3FF2B06-4591-0331-54D5-8EA87719FFFD}"/>
              </a:ext>
            </a:extLst>
          </p:cNvPr>
          <p:cNvSpPr txBox="1"/>
          <p:nvPr/>
        </p:nvSpPr>
        <p:spPr>
          <a:xfrm>
            <a:off x="7575639" y="3139081"/>
            <a:ext cx="10696640" cy="527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3200" b="1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Amount of Past Experience with AI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2C34BA1-A006-72C0-D6D6-1AF6DDAB0B50}"/>
              </a:ext>
            </a:extLst>
          </p:cNvPr>
          <p:cNvSpPr txBox="1"/>
          <p:nvPr/>
        </p:nvSpPr>
        <p:spPr>
          <a:xfrm>
            <a:off x="1166399" y="1233825"/>
            <a:ext cx="15316053" cy="110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Other Trust Loss Factors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0460DC9D-8525-940B-B536-0BB776FD4F7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C01AB-A094-ED28-C1FA-121E351460FA}"/>
              </a:ext>
            </a:extLst>
          </p:cNvPr>
          <p:cNvSpPr txBox="1"/>
          <p:nvPr/>
        </p:nvSpPr>
        <p:spPr>
          <a:xfrm>
            <a:off x="1175924" y="2324100"/>
            <a:ext cx="15945677" cy="436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When an error </a:t>
            </a: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occurs, what makes one person lose more trust than another?</a:t>
            </a:r>
            <a:endParaRPr lang="en-US" sz="2400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A3B7BD-E61A-0435-84F3-2CE38B8D2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94" y="3318343"/>
            <a:ext cx="5597367" cy="54595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392C2F9-9AA3-F554-E455-A6EB2811524C}"/>
              </a:ext>
            </a:extLst>
          </p:cNvPr>
          <p:cNvSpPr txBox="1"/>
          <p:nvPr/>
        </p:nvSpPr>
        <p:spPr>
          <a:xfrm>
            <a:off x="7500901" y="3934007"/>
            <a:ext cx="10402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  <a:latin typeface="Open Sauce"/>
              </a:rPr>
              <a:t>2 groups </a:t>
            </a:r>
            <a:r>
              <a:rPr lang="en-GB" sz="2400">
                <a:solidFill>
                  <a:srgbClr val="000000"/>
                </a:solidFill>
                <a:latin typeface="Open Sauce"/>
              </a:rPr>
              <a:t>of users tend to experience greater loss in trust: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8916E5-ABF9-7788-D401-45889D2B4596}"/>
              </a:ext>
            </a:extLst>
          </p:cNvPr>
          <p:cNvSpPr txBox="1"/>
          <p:nvPr/>
        </p:nvSpPr>
        <p:spPr>
          <a:xfrm>
            <a:off x="8122648" y="4712932"/>
            <a:ext cx="10402292" cy="1778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000000"/>
                </a:solidFill>
                <a:latin typeface="Open Sauce"/>
              </a:rPr>
              <a:t>New users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0000"/>
                </a:solidFill>
                <a:latin typeface="Open Sauce"/>
              </a:rPr>
              <a:t>Reluctant to trust unfamiliar technology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0000"/>
                </a:solidFill>
                <a:latin typeface="Open Sauce"/>
              </a:rPr>
              <a:t>Unlikely to return to AI if it betrays their trust early</a:t>
            </a:r>
            <a:endParaRPr lang="en-US" sz="2400">
              <a:solidFill>
                <a:srgbClr val="000000"/>
              </a:solidFill>
              <a:latin typeface="Open Sauce"/>
            </a:endParaRP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872F3759-CD7B-1C89-7604-4E672B1ED068}"/>
              </a:ext>
            </a:extLst>
          </p:cNvPr>
          <p:cNvGrpSpPr/>
          <p:nvPr/>
        </p:nvGrpSpPr>
        <p:grpSpPr>
          <a:xfrm>
            <a:off x="7500901" y="4817210"/>
            <a:ext cx="531938" cy="515334"/>
            <a:chOff x="0" y="0"/>
            <a:chExt cx="812800" cy="812800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40266691-5149-9225-519D-FD14A0EE47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25" name="TextBox 6">
              <a:extLst>
                <a:ext uri="{FF2B5EF4-FFF2-40B4-BE49-F238E27FC236}">
                  <a16:creationId xmlns:a16="http://schemas.microsoft.com/office/drawing/2014/main" id="{869B1C58-7224-9BB1-5BCF-5A6796210DEB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14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B1C094D-F406-F5E5-7BF8-E3444B80984B}"/>
              </a:ext>
            </a:extLst>
          </p:cNvPr>
          <p:cNvSpPr txBox="1"/>
          <p:nvPr/>
        </p:nvSpPr>
        <p:spPr>
          <a:xfrm>
            <a:off x="7575639" y="482739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1</a:t>
            </a:r>
          </a:p>
        </p:txBody>
      </p:sp>
      <p:grpSp>
        <p:nvGrpSpPr>
          <p:cNvPr id="28" name="Group 4">
            <a:extLst>
              <a:ext uri="{FF2B5EF4-FFF2-40B4-BE49-F238E27FC236}">
                <a16:creationId xmlns:a16="http://schemas.microsoft.com/office/drawing/2014/main" id="{B381FBA2-C99B-2472-C75D-DCF4C6D13AB0}"/>
              </a:ext>
            </a:extLst>
          </p:cNvPr>
          <p:cNvGrpSpPr/>
          <p:nvPr/>
        </p:nvGrpSpPr>
        <p:grpSpPr>
          <a:xfrm>
            <a:off x="7500901" y="7175879"/>
            <a:ext cx="531938" cy="515334"/>
            <a:chOff x="0" y="0"/>
            <a:chExt cx="812800" cy="812800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F9D975CB-1907-019C-449B-36F1D5C75A3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0" name="TextBox 6">
              <a:extLst>
                <a:ext uri="{FF2B5EF4-FFF2-40B4-BE49-F238E27FC236}">
                  <a16:creationId xmlns:a16="http://schemas.microsoft.com/office/drawing/2014/main" id="{BFAEB2FB-54C9-3B20-500A-62DDFAB6DE27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140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2282697-B50C-D757-85D4-33D1AD371962}"/>
              </a:ext>
            </a:extLst>
          </p:cNvPr>
          <p:cNvSpPr txBox="1"/>
          <p:nvPr/>
        </p:nvSpPr>
        <p:spPr>
          <a:xfrm>
            <a:off x="7575639" y="718606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D304D0-C81F-99DC-CCD2-C49DDCB0D22D}"/>
              </a:ext>
            </a:extLst>
          </p:cNvPr>
          <p:cNvSpPr txBox="1"/>
          <p:nvPr/>
        </p:nvSpPr>
        <p:spPr>
          <a:xfrm>
            <a:off x="8153128" y="6998932"/>
            <a:ext cx="9750065" cy="1778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000000"/>
                </a:solidFill>
                <a:latin typeface="Open Sauce"/>
              </a:rPr>
              <a:t>Highly experienced users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0000"/>
                </a:solidFill>
                <a:latin typeface="Open Sauce"/>
              </a:rPr>
              <a:t>Developed long-term use habits with AI tools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solidFill>
                  <a:srgbClr val="000000"/>
                </a:solidFill>
                <a:latin typeface="Open Sauce"/>
              </a:rPr>
              <a:t>Greater sense of betrayal when mistakes are made</a:t>
            </a:r>
            <a:endParaRPr lang="en-US" sz="2400">
              <a:solidFill>
                <a:srgbClr val="000000"/>
              </a:solidFill>
              <a:latin typeface="Open Sauce"/>
            </a:endParaRP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961A8228-4C54-2941-67CC-C00A539CE532}"/>
              </a:ext>
            </a:extLst>
          </p:cNvPr>
          <p:cNvSpPr txBox="1"/>
          <p:nvPr/>
        </p:nvSpPr>
        <p:spPr>
          <a:xfrm>
            <a:off x="152400" y="9910438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TIMOTHY TAN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BB63CD-BA8A-8B20-261D-3BC73F1D62B4}"/>
              </a:ext>
            </a:extLst>
          </p:cNvPr>
          <p:cNvSpPr txBox="1"/>
          <p:nvPr/>
        </p:nvSpPr>
        <p:spPr>
          <a:xfrm>
            <a:off x="1223194" y="2861252"/>
            <a:ext cx="2205806" cy="406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1400" i="1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ANOVA p-value = </a:t>
            </a:r>
            <a:r>
              <a:rPr lang="en-US" sz="1400" b="1" i="1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0.0161</a:t>
            </a:r>
          </a:p>
        </p:txBody>
      </p:sp>
    </p:spTree>
    <p:extLst>
      <p:ext uri="{BB962C8B-B14F-4D97-AF65-F5344CB8AC3E}">
        <p14:creationId xmlns:p14="http://schemas.microsoft.com/office/powerpoint/2010/main" val="365516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67178-CB76-1BCA-F6BF-23F0D824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F7825B-A8F9-2960-787C-5AEF45DB0C4D}"/>
              </a:ext>
            </a:extLst>
          </p:cNvPr>
          <p:cNvSpPr/>
          <p:nvPr/>
        </p:nvSpPr>
        <p:spPr>
          <a:xfrm>
            <a:off x="-17930" y="-1161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A76E53E-7A75-8E9C-B81A-7C57C450755C}"/>
              </a:ext>
            </a:extLst>
          </p:cNvPr>
          <p:cNvSpPr txBox="1"/>
          <p:nvPr/>
        </p:nvSpPr>
        <p:spPr>
          <a:xfrm>
            <a:off x="1166399" y="1233825"/>
            <a:ext cx="15316053" cy="110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Other Trust Loss Factors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53804FEA-5470-5A9E-D71E-A2E6D66176C6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84608-AF4D-BC95-FE82-F155CB208086}"/>
              </a:ext>
            </a:extLst>
          </p:cNvPr>
          <p:cNvSpPr txBox="1"/>
          <p:nvPr/>
        </p:nvSpPr>
        <p:spPr>
          <a:xfrm>
            <a:off x="1175924" y="2345027"/>
            <a:ext cx="16654876" cy="436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 factors identified through literature review reveal insights about user patterns, when examined with the data</a:t>
            </a:r>
            <a:endParaRPr lang="en-US" sz="2400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323F2C31-FA97-D977-8FC4-E5D6048E9173}"/>
              </a:ext>
            </a:extLst>
          </p:cNvPr>
          <p:cNvSpPr txBox="1"/>
          <p:nvPr/>
        </p:nvSpPr>
        <p:spPr>
          <a:xfrm>
            <a:off x="8708662" y="3086100"/>
            <a:ext cx="9561098" cy="527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479"/>
              </a:lnSpc>
            </a:pPr>
            <a:r>
              <a:rPr lang="en-US" sz="3200" b="1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Critical Thinking &amp; Openness to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AA8A1-FA17-4100-8CE6-33AB34B63F92}"/>
              </a:ext>
            </a:extLst>
          </p:cNvPr>
          <p:cNvSpPr txBox="1"/>
          <p:nvPr/>
        </p:nvSpPr>
        <p:spPr>
          <a:xfrm>
            <a:off x="8633924" y="3804525"/>
            <a:ext cx="10402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>
                <a:solidFill>
                  <a:srgbClr val="000000"/>
                </a:solidFill>
                <a:latin typeface="Open Sauce"/>
              </a:rPr>
              <a:t>K-Means Clustering reveals 3 distinct trust loss profiles </a:t>
            </a:r>
            <a:endParaRPr lang="en-GB" sz="2000">
              <a:solidFill>
                <a:srgbClr val="000000"/>
              </a:solidFill>
              <a:latin typeface="Open Sauc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686CFD-7330-FA34-9B33-C949E6A711E7}"/>
              </a:ext>
            </a:extLst>
          </p:cNvPr>
          <p:cNvSpPr txBox="1"/>
          <p:nvPr/>
        </p:nvSpPr>
        <p:spPr>
          <a:xfrm>
            <a:off x="9286151" y="4327731"/>
            <a:ext cx="8221609" cy="14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>
                <a:solidFill>
                  <a:srgbClr val="000000"/>
                </a:solidFill>
                <a:latin typeface="Open Sauce"/>
              </a:rPr>
              <a:t>Disengaged Users (Low trust loss)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000000"/>
                </a:solidFill>
                <a:latin typeface="Open Sauce"/>
              </a:rPr>
              <a:t>Low critical thinking &amp; openness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000000"/>
                </a:solidFill>
                <a:latin typeface="Open Sauce"/>
              </a:rPr>
              <a:t>Do not trust or care about AI much to begin with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D8458408-1EC5-8941-57EA-0B2C1C24AA41}"/>
              </a:ext>
            </a:extLst>
          </p:cNvPr>
          <p:cNvGrpSpPr/>
          <p:nvPr/>
        </p:nvGrpSpPr>
        <p:grpSpPr>
          <a:xfrm>
            <a:off x="8633924" y="4367802"/>
            <a:ext cx="531938" cy="515334"/>
            <a:chOff x="0" y="0"/>
            <a:chExt cx="812800" cy="812800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402756DA-144F-8A66-9822-F3B2A9E542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754010BA-A1B0-1520-63DA-DF1E9C46DA1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12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D2E68DD-5E28-A3CD-D9D1-0D1A03163D2B}"/>
              </a:ext>
            </a:extLst>
          </p:cNvPr>
          <p:cNvSpPr txBox="1"/>
          <p:nvPr/>
        </p:nvSpPr>
        <p:spPr>
          <a:xfrm>
            <a:off x="8727642" y="437703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1</a:t>
            </a:r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F9900139-8CDF-1809-9582-2F1D7AF0D48E}"/>
              </a:ext>
            </a:extLst>
          </p:cNvPr>
          <p:cNvGrpSpPr/>
          <p:nvPr/>
        </p:nvGrpSpPr>
        <p:grpSpPr>
          <a:xfrm>
            <a:off x="8633924" y="6082477"/>
            <a:ext cx="531938" cy="515334"/>
            <a:chOff x="0" y="0"/>
            <a:chExt cx="812800" cy="812800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79177548-A1CF-2F72-E8B7-3F3DF035EAA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4" name="TextBox 6">
              <a:extLst>
                <a:ext uri="{FF2B5EF4-FFF2-40B4-BE49-F238E27FC236}">
                  <a16:creationId xmlns:a16="http://schemas.microsoft.com/office/drawing/2014/main" id="{EB4B4C9B-A9F9-6B01-BDBA-FBA938D2BF37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120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A479A05-DC88-8C99-6EDC-FFBD4E611A14}"/>
              </a:ext>
            </a:extLst>
          </p:cNvPr>
          <p:cNvSpPr txBox="1"/>
          <p:nvPr/>
        </p:nvSpPr>
        <p:spPr>
          <a:xfrm>
            <a:off x="8727642" y="609170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8A016E-03B8-CDDE-5F7F-4E2A182BADE7}"/>
              </a:ext>
            </a:extLst>
          </p:cNvPr>
          <p:cNvSpPr txBox="1"/>
          <p:nvPr/>
        </p:nvSpPr>
        <p:spPr>
          <a:xfrm>
            <a:off x="9286151" y="6031502"/>
            <a:ext cx="8145409" cy="14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>
                <a:solidFill>
                  <a:srgbClr val="000000"/>
                </a:solidFill>
                <a:latin typeface="Open Sauce"/>
              </a:rPr>
              <a:t>Uncritical Enthusiasts (High trust loss)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000000"/>
                </a:solidFill>
                <a:latin typeface="Open Sauce"/>
              </a:rPr>
              <a:t>Highly open, but lack critical thinking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000000"/>
                </a:solidFill>
                <a:latin typeface="Open Sauce"/>
              </a:rPr>
              <a:t>Unquestioning reliance, higher disappointment</a:t>
            </a:r>
          </a:p>
        </p:txBody>
      </p:sp>
      <p:grpSp>
        <p:nvGrpSpPr>
          <p:cNvPr id="27" name="Group 4">
            <a:extLst>
              <a:ext uri="{FF2B5EF4-FFF2-40B4-BE49-F238E27FC236}">
                <a16:creationId xmlns:a16="http://schemas.microsoft.com/office/drawing/2014/main" id="{B519970A-3D65-FD55-9FA5-CB4F3F3BE598}"/>
              </a:ext>
            </a:extLst>
          </p:cNvPr>
          <p:cNvGrpSpPr/>
          <p:nvPr/>
        </p:nvGrpSpPr>
        <p:grpSpPr>
          <a:xfrm>
            <a:off x="8633924" y="7780489"/>
            <a:ext cx="531938" cy="515334"/>
            <a:chOff x="0" y="0"/>
            <a:chExt cx="812800" cy="812800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B96124C6-AB4E-A46C-09E4-085D64B3D8F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" name="TextBox 6">
              <a:extLst>
                <a:ext uri="{FF2B5EF4-FFF2-40B4-BE49-F238E27FC236}">
                  <a16:creationId xmlns:a16="http://schemas.microsoft.com/office/drawing/2014/main" id="{B3D1721F-55C3-EFD1-2ACB-B97E88955E8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120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AFB6BAF-9888-CA2F-3271-200077DF463A}"/>
              </a:ext>
            </a:extLst>
          </p:cNvPr>
          <p:cNvSpPr txBox="1"/>
          <p:nvPr/>
        </p:nvSpPr>
        <p:spPr>
          <a:xfrm>
            <a:off x="8727642" y="778972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6FD6C1-B749-93B7-4031-66A61A7E6E39}"/>
              </a:ext>
            </a:extLst>
          </p:cNvPr>
          <p:cNvSpPr txBox="1"/>
          <p:nvPr/>
        </p:nvSpPr>
        <p:spPr>
          <a:xfrm>
            <a:off x="9286151" y="7729514"/>
            <a:ext cx="7993009" cy="14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>
                <a:solidFill>
                  <a:srgbClr val="000000"/>
                </a:solidFill>
                <a:latin typeface="Open Sauce"/>
              </a:rPr>
              <a:t>AI Literate (Low trust loss)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000000"/>
                </a:solidFill>
                <a:latin typeface="Open Sauce"/>
              </a:rPr>
              <a:t>Highly open, critical thinkers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000000"/>
                </a:solidFill>
                <a:latin typeface="Open Sauce"/>
              </a:rPr>
              <a:t>Ideal user, well calibrated expectations</a:t>
            </a:r>
          </a:p>
        </p:txBody>
      </p:sp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C2DAA617-DC25-59FA-8A12-8B0BA9F3F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751825"/>
              </p:ext>
            </p:extLst>
          </p:nvPr>
        </p:nvGraphicFramePr>
        <p:xfrm>
          <a:off x="1201034" y="3363272"/>
          <a:ext cx="6904592" cy="5005677"/>
        </p:xfrm>
        <a:graphic>
          <a:graphicData uri="http://schemas.openxmlformats.org/drawingml/2006/table">
            <a:tbl>
              <a:tblPr/>
              <a:tblGrid>
                <a:gridCol w="1387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178">
                  <a:extLst>
                    <a:ext uri="{9D8B030D-6E8A-4147-A177-3AD203B41FA5}">
                      <a16:colId xmlns:a16="http://schemas.microsoft.com/office/drawing/2014/main" val="2684022663"/>
                    </a:ext>
                  </a:extLst>
                </a:gridCol>
              </a:tblGrid>
              <a:tr h="1568323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Cluster</a:t>
                      </a:r>
                      <a:endParaRPr lang="en-US" sz="10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Trust Loss Magnitude</a:t>
                      </a:r>
                      <a:endParaRPr lang="en-US" sz="10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Critical Thinking Score*</a:t>
                      </a:r>
                      <a:endParaRPr lang="en-US" sz="10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Openness to Technology*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26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1.81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3.67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4.91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3.32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5.94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6.91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29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1.64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8.29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9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6.28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D3433BD5-D33D-6B2C-521C-C0585281F5A0}"/>
              </a:ext>
            </a:extLst>
          </p:cNvPr>
          <p:cNvSpPr txBox="1"/>
          <p:nvPr/>
        </p:nvSpPr>
        <p:spPr>
          <a:xfrm>
            <a:off x="1166399" y="8584168"/>
            <a:ext cx="5762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* Critical thinking/openness to technology scored out of 10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D330F2E8-3748-EB9E-FA03-9F18DD11C8CB}"/>
              </a:ext>
            </a:extLst>
          </p:cNvPr>
          <p:cNvSpPr txBox="1"/>
          <p:nvPr/>
        </p:nvSpPr>
        <p:spPr>
          <a:xfrm>
            <a:off x="152400" y="9910438"/>
            <a:ext cx="4291426" cy="25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PRESENTED BY TIMOTHY TAN</a:t>
            </a:r>
            <a:endParaRPr lang="en-US" sz="1599" u="none" strike="noStrike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169522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  <p:sp>
        <p:nvSpPr>
          <p:cNvPr id="4" name="Title"/>
          <p:cNvSpPr txBox="1"/>
          <p:nvPr/>
        </p:nvSpPr>
        <p:spPr>
          <a:xfrm>
            <a:off x="1166774" y="1234440"/>
            <a:ext cx="15947136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4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Building AI Literacy and Accountability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166774" y="9144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i="0" spc="159">
                <a:solidFill>
                  <a:srgbClr val="767574"/>
                </a:solidFill>
                <a:latin typeface="Open Sauce"/>
                <a:ea typeface="Open Sauce"/>
                <a:cs typeface="Open Sauce"/>
                <a:sym typeface="Open Sauce"/>
              </a:rPr>
              <a:t>PRESENTED BY WANG GAOYANG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6774" y="2331720"/>
            <a:ext cx="159471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Teach people to check AI, and check AI before it reaches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66774" y="2998317"/>
            <a:ext cx="5029200" cy="5349240"/>
          </a:xfrm>
          <a:prstGeom prst="roundRect">
            <a:avLst>
              <a:gd name="adj" fmla="val 7272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9" name="Picture 8" descr="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254" y="3429000"/>
            <a:ext cx="685800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92654" y="35661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SCHOOLS &amp; EDUCATORS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8254" y="43434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Teach</a:t>
            </a:r>
            <a:r>
              <a:rPr lang="en-SG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AI</a:t>
            </a:r>
            <a:r>
              <a:rPr lang="en-US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Verification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78254" y="53492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TARGETS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8254" y="5696712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Students </a:t>
            </a:r>
            <a:r>
              <a:rPr lang="en-US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&amp; Uncritical Enthusiasts</a:t>
            </a:r>
            <a:endParaRPr lang="en-US" sz="18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78254" y="64465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EXAMPLE</a:t>
            </a:r>
            <a:endParaRPr lang="en-US" sz="13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78254" y="6793992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20000"/>
              </a:lnSpc>
              <a:spcAft>
                <a:spcPts val="400"/>
              </a:spcAft>
              <a:buFont typeface="Calibri"/>
              <a:buChar char="-"/>
            </a:pPr>
            <a:r>
              <a:rPr sz="1700" i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How to SIFT with AI</a:t>
            </a:r>
            <a:r>
              <a:rPr sz="17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(Common Sense Education): students trace an AI article's citations back to the original sources</a:t>
            </a: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6625742" y="3017520"/>
            <a:ext cx="5029200" cy="5349240"/>
          </a:xfrm>
          <a:prstGeom prst="roundRect">
            <a:avLst>
              <a:gd name="adj" fmla="val 7272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7" name="Picture 16" descr="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7222" y="3429000"/>
            <a:ext cx="685800" cy="685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1622" y="35661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GOVERNMENTS &amp; COMMUNITIES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7222" y="434340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solidFill>
                  <a:srgbClr val="000000"/>
                </a:solidFill>
                <a:latin typeface="Open Sauce Bold"/>
                <a:ea typeface="+mn-lt"/>
                <a:cs typeface="+mn-lt"/>
                <a:sym typeface="Open Sauce Bold"/>
              </a:rPr>
              <a:t>Bring AI familiarity to disengaged and older groups</a:t>
            </a:r>
            <a:endParaRPr lang="en-US" sz="1600"/>
          </a:p>
        </p:txBody>
      </p:sp>
      <p:sp>
        <p:nvSpPr>
          <p:cNvPr id="20" name="TextBox 19"/>
          <p:cNvSpPr txBox="1"/>
          <p:nvPr/>
        </p:nvSpPr>
        <p:spPr>
          <a:xfrm>
            <a:off x="7037222" y="53492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TARGETS</a:t>
            </a:r>
            <a:endParaRPr lang="en-US" sz="1300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7222" y="5696712"/>
            <a:ext cx="4429089" cy="738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Disengaged Users &amp; older populations</a:t>
            </a:r>
            <a:endParaRPr lang="en-US" sz="18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37222" y="64465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EXAMPLE</a:t>
            </a:r>
            <a:endParaRPr lang="en-US" sz="13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37222" y="6793992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20000"/>
              </a:lnSpc>
              <a:spcAft>
                <a:spcPts val="400"/>
              </a:spcAft>
              <a:buFont typeface="Calibri"/>
              <a:buChar char="-"/>
            </a:pPr>
            <a:r>
              <a:rPr sz="17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Singapore's IMDA has run GenAI workshops for </a:t>
            </a:r>
            <a:r>
              <a:rPr sz="1700" i="0">
                <a:solidFill>
                  <a:srgbClr val="E03A2F"/>
                </a:solidFill>
                <a:latin typeface="Open Sauce"/>
                <a:ea typeface="Open Sauce"/>
                <a:cs typeface="Open Sauce"/>
                <a:sym typeface="Open Sauce"/>
              </a:rPr>
              <a:t>6,000+ seniors</a:t>
            </a:r>
            <a:r>
              <a:rPr sz="17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since 2024, incl. checking answers across apps</a:t>
            </a: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12084710" y="3017520"/>
            <a:ext cx="5029200" cy="5349240"/>
          </a:xfrm>
          <a:prstGeom prst="roundRect">
            <a:avLst>
              <a:gd name="adj" fmla="val 7272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5" name="Picture 24" descr="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6190" y="3429000"/>
            <a:ext cx="685800" cy="685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410590" y="35661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GOVERNMENTS &amp; REGULATORS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96190" y="43434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24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Assurance </a:t>
            </a:r>
            <a:r>
              <a:rPr lang="en-GB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</a:t>
            </a:r>
            <a:r>
              <a:rPr lang="en-GB" sz="24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GB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accountability</a:t>
            </a:r>
            <a:endParaRPr lang="en-GB" sz="2400" i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496190" y="53492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96190" y="5696712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</a:t>
            </a:r>
            <a:r>
              <a:rPr lang="en-US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companies</a:t>
            </a:r>
            <a:endParaRPr lang="en-US" sz="18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496190" y="6288369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EXAMPLE</a:t>
            </a:r>
            <a:endParaRPr lang="en-US" sz="13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496190" y="6607086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20000"/>
              </a:lnSpc>
              <a:spcAft>
                <a:spcPts val="400"/>
              </a:spcAft>
              <a:buFont typeface="Calibri"/>
              <a:buChar char="-"/>
            </a:pPr>
            <a:r>
              <a:rPr sz="1700" i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Verify</a:t>
            </a:r>
            <a:r>
              <a:rPr sz="17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(2022): firms test their AI </a:t>
            </a:r>
            <a:r>
              <a:rPr lang="en-US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against governance principles. </a:t>
            </a:r>
            <a:r>
              <a:rPr sz="17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and can share the </a:t>
            </a: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results. </a:t>
            </a:r>
            <a:endParaRPr lang="en-US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285750" indent="-285750">
              <a:lnSpc>
                <a:spcPct val="120000"/>
              </a:lnSpc>
              <a:spcAft>
                <a:spcPts val="400"/>
              </a:spcAft>
              <a:buFont typeface="Calibri"/>
              <a:buChar char="-"/>
            </a:pPr>
            <a:r>
              <a:rPr lang="en-US" sz="1700" i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Moffatt</a:t>
            </a:r>
            <a:r>
              <a:rPr sz="1700" i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v. Air Canada</a:t>
            </a:r>
            <a:r>
              <a:rPr lang="en-US" sz="1700" i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 Lawsuit</a:t>
            </a: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sz="17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(2024</a:t>
            </a:r>
            <a:r>
              <a:rPr lang="en-US" sz="1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  <a:endParaRPr lang="en-US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32" name="Sources"/>
          <p:cNvSpPr txBox="1"/>
          <p:nvPr/>
        </p:nvSpPr>
        <p:spPr>
          <a:xfrm>
            <a:off x="1166774" y="8522208"/>
            <a:ext cx="1594713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i="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Sources: Common Sense Education; Koh, The Straits Times (2025); PDPC (2022); Moffatt v. Air Canada, 2024 BCCRT 149</a:t>
            </a:r>
          </a:p>
        </p:txBody>
      </p:sp>
    </p:spTree>
    <p:extLst>
      <p:ext uri="{BB962C8B-B14F-4D97-AF65-F5344CB8AC3E}">
        <p14:creationId xmlns:p14="http://schemas.microsoft.com/office/powerpoint/2010/main" val="128144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  <p:sp>
        <p:nvSpPr>
          <p:cNvPr id="4" name="Title"/>
          <p:cNvSpPr txBox="1"/>
          <p:nvPr/>
        </p:nvSpPr>
        <p:spPr>
          <a:xfrm>
            <a:off x="1166774" y="1234440"/>
            <a:ext cx="15947136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4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Designing AI That Signals When to Trust It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3667887" y="10013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i="0" spc="159">
                <a:solidFill>
                  <a:srgbClr val="767574"/>
                </a:solidFill>
                <a:latin typeface="Open Sauce"/>
                <a:ea typeface="Open Sauce"/>
                <a:cs typeface="Open Sauce"/>
                <a:sym typeface="Open Sauce"/>
              </a:rPr>
              <a:t>PRESENTED BY WANG GAOYANG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74604" y="2981576"/>
            <a:ext cx="4906993" cy="7146410"/>
          </a:xfrm>
          <a:prstGeom prst="roundRect">
            <a:avLst>
              <a:gd name="adj" fmla="val 7272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1578254" y="3197381"/>
            <a:ext cx="868680" cy="8686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0" name="Picture 9" descr="b1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798" y="3431924"/>
            <a:ext cx="399592" cy="399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78254" y="429466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Make sources real and checkable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8254" y="529590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WHY</a:t>
            </a:r>
            <a:endParaRPr lang="en-US" sz="13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78254" y="56007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Cited answers left users </a:t>
            </a:r>
            <a:r>
              <a:rPr sz="1800" b="1" i="0">
                <a:solidFill>
                  <a:srgbClr val="E03A2F"/>
                </a:solidFill>
                <a:latin typeface="Open Sauce"/>
                <a:ea typeface="Open Sauce"/>
                <a:cs typeface="Open Sauce"/>
                <a:sym typeface="Open Sauce"/>
              </a:rPr>
              <a:t>36×</a:t>
            </a:r>
            <a:r>
              <a:rPr sz="18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less likely to be highly skeptical</a:t>
            </a:r>
            <a:endParaRPr lang="en-US" sz="18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78254" y="6425626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EXAMPLE</a:t>
            </a:r>
            <a:endParaRPr lang="en-US" sz="13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78254" y="6670548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20000"/>
              </a:lnSpc>
              <a:buFont typeface="Calibri"/>
              <a:buChar char="-"/>
            </a:pPr>
            <a:r>
              <a:rPr lang="en-US" sz="1700" i="1">
                <a:solidFill>
                  <a:srgbClr val="000000"/>
                </a:solidFill>
                <a:latin typeface="Open Sauce"/>
                <a:ea typeface="+mn-lt"/>
                <a:cs typeface="+mn-lt"/>
              </a:rPr>
              <a:t>Mata v. Avianca</a:t>
            </a:r>
            <a:r>
              <a:rPr lang="en-US" sz="1700">
                <a:solidFill>
                  <a:srgbClr val="000000"/>
                </a:solidFill>
                <a:latin typeface="Open Sauce"/>
                <a:ea typeface="+mn-lt"/>
                <a:cs typeface="+mn-lt"/>
              </a:rPr>
              <a:t> Case(2023): </a:t>
            </a:r>
            <a:r>
              <a:rPr lang="en-US" sz="1700">
                <a:solidFill>
                  <a:srgbClr val="000000"/>
                </a:solidFill>
                <a:latin typeface="Open Sauce"/>
                <a:ea typeface="+mn-lt"/>
                <a:cs typeface="Calibri"/>
              </a:rPr>
              <a:t>Lawyers cited court cases entirely fabricated by ChatGPT.</a:t>
            </a:r>
            <a:endParaRPr lang="en-US" sz="1700">
              <a:latin typeface="Open Sauce"/>
              <a:ea typeface="+mn-lt"/>
              <a:cs typeface="Calibri"/>
            </a:endParaRPr>
          </a:p>
          <a:p>
            <a:pPr marL="285750" indent="-285750">
              <a:lnSpc>
                <a:spcPct val="120000"/>
              </a:lnSpc>
              <a:buFont typeface="Calibri"/>
              <a:buChar char="-"/>
            </a:pPr>
            <a:r>
              <a:rPr lang="en-US" sz="1700">
                <a:solidFill>
                  <a:srgbClr val="000000"/>
                </a:solidFill>
                <a:latin typeface="Open Sauce"/>
                <a:ea typeface="+mn-lt"/>
                <a:cs typeface="+mn-lt"/>
                <a:sym typeface="Open Sauce"/>
              </a:rPr>
              <a:t>Gemini's "double-check response" feature</a:t>
            </a:r>
            <a:endParaRPr lang="en-US" sz="1700">
              <a:ea typeface="Calibri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25742" y="3017520"/>
            <a:ext cx="5029200" cy="5349240"/>
          </a:xfrm>
          <a:prstGeom prst="roundRect">
            <a:avLst>
              <a:gd name="adj" fmla="val 7272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037222" y="3197381"/>
            <a:ext cx="868680" cy="8686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8" name="Picture 17" descr="b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766" y="3431924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37222" y="4294660"/>
            <a:ext cx="4206240" cy="593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Reduce sycophancy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7222" y="5306257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WHY</a:t>
            </a:r>
            <a:endParaRPr lang="en-US" sz="13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7222" y="5632163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000000"/>
                </a:solidFill>
                <a:latin typeface="Open Sauce"/>
                <a:ea typeface="+mn-lt"/>
                <a:cs typeface="+mn-lt"/>
                <a:sym typeface="Open Sauce"/>
              </a:rPr>
              <a:t>Belief-matching answers left users </a:t>
            </a:r>
            <a:r>
              <a:rPr lang="en-US" b="1">
                <a:solidFill>
                  <a:srgbClr val="FF0000"/>
                </a:solidFill>
                <a:latin typeface="Open Sauce"/>
                <a:ea typeface="+mn-lt"/>
                <a:cs typeface="+mn-lt"/>
                <a:sym typeface="Open Sauce"/>
              </a:rPr>
              <a:t>16×</a:t>
            </a:r>
            <a:r>
              <a:rPr lang="en-US" b="1">
                <a:solidFill>
                  <a:srgbClr val="000000"/>
                </a:solidFill>
                <a:latin typeface="Open Sauce"/>
                <a:ea typeface="+mn-lt"/>
                <a:cs typeface="+mn-lt"/>
                <a:sym typeface="Open Sauce"/>
              </a:rPr>
              <a:t> less likely to be skeptical</a:t>
            </a:r>
            <a:endParaRPr lang="en-US" b="1">
              <a:latin typeface="Open Sauce"/>
              <a:ea typeface="Calibri"/>
              <a:cs typeface="Calibri"/>
            </a:endParaRPr>
          </a:p>
          <a:p>
            <a:pPr algn="l">
              <a:lnSpc>
                <a:spcPct val="120000"/>
              </a:lnSpc>
            </a:pPr>
            <a:endParaRPr lang="en-US" sz="1600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37222" y="651510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EXAMPLE</a:t>
            </a:r>
            <a:endParaRPr lang="en-US" sz="13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37222" y="685038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0000"/>
              </a:lnSpc>
              <a:buFont typeface="Calibri"/>
              <a:buChar char="-"/>
            </a:pPr>
            <a:r>
              <a:rPr sz="17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OpenAI rolled back a GPT-4o update in 2025 for being too agreeable</a:t>
            </a:r>
            <a:endParaRPr lang="en-US" sz="1700"/>
          </a:p>
        </p:txBody>
      </p:sp>
      <p:sp>
        <p:nvSpPr>
          <p:cNvPr id="24" name="Rounded Rectangle 23"/>
          <p:cNvSpPr/>
          <p:nvPr/>
        </p:nvSpPr>
        <p:spPr>
          <a:xfrm>
            <a:off x="12084710" y="3058668"/>
            <a:ext cx="5029200" cy="5349240"/>
          </a:xfrm>
          <a:prstGeom prst="roundRect">
            <a:avLst>
              <a:gd name="adj" fmla="val 7272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496190" y="3224755"/>
            <a:ext cx="868680" cy="8686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6" name="Picture 25" descr="b3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0734" y="3459298"/>
            <a:ext cx="399592" cy="3995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496190" y="4322034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26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Signal </a:t>
            </a:r>
            <a:r>
              <a:rPr lang="en-US" sz="2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limits</a:t>
            </a:r>
            <a:r>
              <a:rPr sz="2600" i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especially in high stakes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96190" y="53568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WHY</a:t>
            </a:r>
            <a:endParaRPr lang="en-US" sz="13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496190" y="56007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Errors trigger trust loss, and large drops rarely recover</a:t>
            </a:r>
            <a:endParaRPr lang="en-US" sz="18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496190" y="64998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2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EXAMPLE</a:t>
            </a:r>
            <a:endParaRPr lang="en-US" sz="1300" b="1" i="0" spc="120">
              <a:solidFill>
                <a:srgbClr val="80808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268200" y="6774180"/>
            <a:ext cx="484571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20000"/>
              </a:lnSpc>
              <a:buFont typeface="Calibri"/>
              <a:buChar char="-"/>
            </a:pPr>
            <a:r>
              <a:rPr lang="en-US" sz="1700">
                <a:latin typeface="Open Sauce"/>
                <a:ea typeface="+mn-lt"/>
                <a:cs typeface="+mn-lt"/>
              </a:rPr>
              <a:t>Google restricted AI Overviews by limiting its display timing, content sources, and high-stakes topics like health. </a:t>
            </a:r>
            <a:endParaRPr lang="en-US" sz="1700">
              <a:latin typeface="Open Sauce"/>
              <a:ea typeface="Calibri"/>
              <a:cs typeface="Calibri"/>
            </a:endParaRPr>
          </a:p>
        </p:txBody>
      </p:sp>
      <p:sp>
        <p:nvSpPr>
          <p:cNvPr id="32" name="Sources"/>
          <p:cNvSpPr txBox="1"/>
          <p:nvPr/>
        </p:nvSpPr>
        <p:spPr>
          <a:xfrm>
            <a:off x="7561945" y="9693963"/>
            <a:ext cx="1594713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i="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Sources: Mata v. Avianca (S.D.N.Y. 2023); OpenAI (2025); Sharma et al. (2024); CNN (2023); Microsoft HAX Toolkit; Forbes (2024)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701ED1-6F7B-B0F8-C128-5521507B7A31}"/>
              </a:ext>
            </a:extLst>
          </p:cNvPr>
          <p:cNvSpPr txBox="1"/>
          <p:nvPr/>
        </p:nvSpPr>
        <p:spPr>
          <a:xfrm>
            <a:off x="1272395" y="3431012"/>
            <a:ext cx="426288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AI DEVELOPERS</a:t>
            </a:r>
            <a:endParaRPr lang="en-US"/>
          </a:p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BB397E-BE6C-3377-08D2-08AB94D09D23}"/>
              </a:ext>
            </a:extLst>
          </p:cNvPr>
          <p:cNvSpPr txBox="1"/>
          <p:nvPr/>
        </p:nvSpPr>
        <p:spPr>
          <a:xfrm>
            <a:off x="7943491" y="3510089"/>
            <a:ext cx="1624641" cy="6535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49000"/>
                  </a:schemeClr>
                </a:solidFill>
                <a:latin typeface="Calibri"/>
              </a:rPr>
              <a:t>AI DEVELOPERS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4F97D9-9948-D49F-C5D4-DF0A6DEF5800}"/>
              </a:ext>
            </a:extLst>
          </p:cNvPr>
          <p:cNvSpPr txBox="1"/>
          <p:nvPr/>
        </p:nvSpPr>
        <p:spPr>
          <a:xfrm>
            <a:off x="13363755" y="3458387"/>
            <a:ext cx="16893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49000"/>
                  </a:schemeClr>
                </a:solidFill>
                <a:ea typeface="Calibri"/>
                <a:cs typeface="Calibri"/>
              </a:rPr>
              <a:t>AI DEVELOPERS</a:t>
            </a:r>
            <a:endParaRPr lang="en-US">
              <a:ea typeface="Calibri"/>
              <a:cs typeface="Calibri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78B4C95-6DFD-A5F6-94FD-66988C83A3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2544" y="8192752"/>
            <a:ext cx="2631111" cy="176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  <p:bldP spid="27" grpId="0"/>
      <p:bldP spid="28" grpId="0"/>
      <p:bldP spid="29" grpId="0"/>
      <p:bldP spid="30" grpId="0"/>
      <p:bldP spid="31" grpId="0"/>
      <p:bldP spid="34" grpId="0"/>
      <p:bldP spid="35" grpId="0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  <p:sp>
        <p:nvSpPr>
          <p:cNvPr id="4" name="Title"/>
          <p:cNvSpPr txBox="1"/>
          <p:nvPr/>
        </p:nvSpPr>
        <p:spPr>
          <a:xfrm>
            <a:off x="1166774" y="1234440"/>
            <a:ext cx="15947136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4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Our Solutions Connect to the Findings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166774" y="9144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i="0" spc="159">
                <a:solidFill>
                  <a:srgbClr val="767574"/>
                </a:solidFill>
                <a:latin typeface="Open Sauce"/>
                <a:ea typeface="Open Sauce"/>
                <a:cs typeface="Open Sauce"/>
                <a:sym typeface="Open Sauce"/>
              </a:rPr>
              <a:t>PRESENTED BY WANG GAOYANG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6774" y="2331720"/>
            <a:ext cx="159471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Each solution responds to at least one finding; together they aim at calibrated trust</a:t>
            </a: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784494" y="2926080"/>
            <a:ext cx="3685032" cy="658368"/>
          </a:xfrm>
          <a:prstGeom prst="roundRect">
            <a:avLst>
              <a:gd name="adj" fmla="val 25000"/>
            </a:avLst>
          </a:prstGeom>
          <a:solidFill>
            <a:srgbClr val="5E8CC4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Country level</a:t>
            </a:r>
            <a:r>
              <a:rPr sz="1700" b="1" i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endParaRPr lang="en-US" sz="1700" b="1" i="0">
              <a:solidFill>
                <a:srgbClr val="FFFFFF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06686" y="2926080"/>
            <a:ext cx="3685032" cy="658368"/>
          </a:xfrm>
          <a:prstGeom prst="roundRect">
            <a:avLst>
              <a:gd name="adj" fmla="val 25000"/>
            </a:avLst>
          </a:prstGeom>
          <a:solidFill>
            <a:srgbClr val="55A85E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Individual interactions</a:t>
            </a:r>
            <a:endParaRPr lang="en-US" sz="1700" b="1" i="0">
              <a:solidFill>
                <a:srgbClr val="FFFFFF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428878" y="2926080"/>
            <a:ext cx="3685032" cy="658368"/>
          </a:xfrm>
          <a:prstGeom prst="roundRect">
            <a:avLst>
              <a:gd name="adj" fmla="val 25000"/>
            </a:avLst>
          </a:prstGeom>
          <a:solidFill>
            <a:srgbClr val="8B72C0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After AI errors</a:t>
            </a:r>
            <a:endParaRPr lang="en-US" sz="1700" b="1" i="0">
              <a:solidFill>
                <a:srgbClr val="FFFFFF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66774" y="3767328"/>
            <a:ext cx="4480560" cy="676656"/>
          </a:xfrm>
          <a:prstGeom prst="roundRect">
            <a:avLst>
              <a:gd name="adj" fmla="val 24324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square" lIns="228600" tIns="45720" rIns="228600" bIns="4572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 Bold"/>
              </a:rPr>
              <a:t>Teach</a:t>
            </a:r>
            <a:r>
              <a:rPr sz="1800" b="1" i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AI verification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84494" y="3767328"/>
            <a:ext cx="368503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i="0">
                <a:solidFill>
                  <a:srgbClr val="C8C8C8"/>
                </a:solidFill>
                <a:latin typeface="Open Sauce"/>
                <a:ea typeface="Open Sauce"/>
                <a:cs typeface="Open Sauce"/>
                <a:sym typeface="Open Sauce"/>
              </a:rPr>
              <a:t>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686" y="3767328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DDEFDE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Education · Digital literacy · Source citation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428878" y="3767328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E8E1F4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Critical thinking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66774" y="4535424"/>
            <a:ext cx="4480560" cy="676656"/>
          </a:xfrm>
          <a:prstGeom prst="roundRect">
            <a:avLst>
              <a:gd name="adj" fmla="val 24324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square" lIns="228600" tIns="45720" rIns="228600" bIns="4572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Open Sauce Bold"/>
                <a:ea typeface="Open Sauce"/>
                <a:cs typeface="Open Sauce"/>
                <a:sym typeface="Open Sauce"/>
              </a:rPr>
              <a:t>Bring AI familiarity to </a:t>
            </a:r>
            <a:r>
              <a:rPr lang="en-US" sz="1800" b="1" i="0">
                <a:solidFill>
                  <a:srgbClr val="FFFFFF"/>
                </a:solidFill>
                <a:latin typeface="Open Sauce Bold"/>
                <a:ea typeface="Open Sauce"/>
                <a:cs typeface="Open Sauce"/>
                <a:sym typeface="Open Sauce"/>
              </a:rPr>
              <a:t>disengaged </a:t>
            </a:r>
            <a:r>
              <a:rPr lang="en-US" b="1">
                <a:solidFill>
                  <a:srgbClr val="FFFFFF"/>
                </a:solidFill>
                <a:latin typeface="Open Sauce Bold"/>
                <a:ea typeface="Open Sauce"/>
                <a:cs typeface="Open Sauce"/>
                <a:sym typeface="Open Sauce"/>
              </a:rPr>
              <a:t>and </a:t>
            </a:r>
            <a:r>
              <a:rPr lang="en-US" sz="1800" b="1" i="0">
                <a:solidFill>
                  <a:srgbClr val="FFFFFF"/>
                </a:solidFill>
                <a:latin typeface="Open Sauce Bold"/>
                <a:ea typeface="Open Sauce"/>
                <a:cs typeface="Open Sauce"/>
                <a:sym typeface="Open Sauce"/>
              </a:rPr>
              <a:t>older</a:t>
            </a:r>
            <a:r>
              <a:rPr lang="en-US" b="1">
                <a:solidFill>
                  <a:srgbClr val="FFFFFF"/>
                </a:solidFill>
                <a:latin typeface="Open Sauce Bold"/>
                <a:ea typeface="Open Sauce"/>
                <a:cs typeface="Open Sauce"/>
                <a:sym typeface="Open Sauce"/>
              </a:rPr>
              <a:t> groups</a:t>
            </a:r>
            <a:endParaRPr lang="en-US" b="1">
              <a:solidFill>
                <a:srgbClr val="FFFFFF"/>
              </a:solidFill>
              <a:latin typeface="Open Sauce Bold"/>
              <a:ea typeface="Open Sauce"/>
              <a:cs typeface="Open Sauce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84494" y="4535424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DCE8F5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Age dependency · Internet use</a:t>
            </a:r>
            <a:endParaRPr lang="en-US" b="1">
              <a:latin typeface="Open Sauce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606686" y="4535424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DDEFDE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familiarity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3428878" y="4535424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E8E1F4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 experience · </a:t>
            </a:r>
            <a:r>
              <a:rPr lang="en-US" sz="1600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Tech openness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66774" y="5303520"/>
            <a:ext cx="4480560" cy="676656"/>
          </a:xfrm>
          <a:prstGeom prst="roundRect">
            <a:avLst>
              <a:gd name="adj" fmla="val 24324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square" lIns="228600" tIns="45720" rIns="228600" bIns="4572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 Bold"/>
              </a:rPr>
              <a:t>Assurance</a:t>
            </a:r>
            <a:r>
              <a:rPr sz="1800" b="1" i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&amp; accountability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84494" y="5303520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DCE8F5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Government effectiveness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06686" y="5303520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DDEFDE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Urgency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428878" y="5303520"/>
            <a:ext cx="368503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i="0">
                <a:solidFill>
                  <a:srgbClr val="C8C8C8"/>
                </a:solidFill>
                <a:latin typeface="Open Sauce"/>
                <a:ea typeface="Open Sauce"/>
                <a:cs typeface="Open Sauce"/>
                <a:sym typeface="Open Sauce"/>
              </a:rPr>
              <a:t>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66774" y="6254496"/>
            <a:ext cx="4480560" cy="676656"/>
          </a:xfrm>
          <a:prstGeom prst="roundRect">
            <a:avLst>
              <a:gd name="adj" fmla="val 24324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square" lIns="228600" tIns="45720" rIns="228600" bIns="4572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Real, checkable sources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84494" y="6254496"/>
            <a:ext cx="368503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i="0">
                <a:solidFill>
                  <a:srgbClr val="C8C8C8"/>
                </a:solidFill>
                <a:latin typeface="Open Sauce"/>
                <a:ea typeface="Open Sauce"/>
                <a:cs typeface="Open Sauce"/>
                <a:sym typeface="Open Sauce"/>
              </a:rPr>
              <a:t>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6686" y="6254496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DDEFDE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Source citation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428878" y="6254496"/>
            <a:ext cx="368503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i="0">
                <a:solidFill>
                  <a:srgbClr val="C8C8C8"/>
                </a:solidFill>
                <a:latin typeface="Open Sauce"/>
                <a:ea typeface="Open Sauce"/>
                <a:cs typeface="Open Sauce"/>
                <a:sym typeface="Open Sauce"/>
              </a:rPr>
              <a:t>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6774" y="7022592"/>
            <a:ext cx="4480560" cy="676656"/>
          </a:xfrm>
          <a:prstGeom prst="roundRect">
            <a:avLst>
              <a:gd name="adj" fmla="val 24324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square" lIns="228600" tIns="45720" rIns="228600" bIns="4572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Reduce sycophancy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84494" y="7022592"/>
            <a:ext cx="368503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i="0">
                <a:solidFill>
                  <a:srgbClr val="C8C8C8"/>
                </a:solidFill>
                <a:latin typeface="Open Sauce"/>
                <a:ea typeface="Open Sauce"/>
                <a:cs typeface="Open Sauce"/>
                <a:sym typeface="Open Sauce"/>
              </a:rPr>
              <a:t>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6686" y="7022592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DDEFDE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Belief alignment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3428878" y="7022592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E8E1F4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Critical thinking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166774" y="7790688"/>
            <a:ext cx="4480560" cy="676656"/>
          </a:xfrm>
          <a:prstGeom prst="roundRect">
            <a:avLst>
              <a:gd name="adj" fmla="val 24324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square" lIns="228600" tIns="45720" rIns="228600" bIns="4572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Signal limits clearly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84494" y="7790688"/>
            <a:ext cx="3685032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i="0">
                <a:solidFill>
                  <a:srgbClr val="C8C8C8"/>
                </a:solidFill>
                <a:latin typeface="Open Sauce"/>
                <a:ea typeface="Open Sauce"/>
                <a:cs typeface="Open Sauce"/>
                <a:sym typeface="Open Sauce"/>
              </a:rPr>
              <a:t>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6686" y="7790688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DDEFDE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Hedging · Decision importance · Urgency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3428878" y="7790688"/>
            <a:ext cx="3685032" cy="676656"/>
          </a:xfrm>
          <a:prstGeom prst="roundRect">
            <a:avLst>
              <a:gd name="adj" fmla="val 24324"/>
            </a:avLst>
          </a:prstGeom>
          <a:solidFill>
            <a:srgbClr val="E8E1F4"/>
          </a:solidFill>
          <a:ln>
            <a:noFill/>
          </a:ln>
          <a:effectLst/>
        </p:spPr>
        <p:txBody>
          <a:bodyPr wrap="square" lIns="137160" tIns="45720" rIns="137160" bIns="45720" rtlCol="0" anchor="ctr"/>
          <a:lstStyle/>
          <a:p>
            <a:pPr algn="ctr"/>
            <a:r>
              <a:rPr lang="en-US" sz="1600" b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Earlier error</a:t>
            </a:r>
            <a:r>
              <a:rPr sz="1600" b="1" i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detection</a:t>
            </a:r>
            <a:endParaRPr lang="en-US" sz="1600" b="1" i="0">
              <a:solidFill>
                <a:srgbClr val="000000"/>
              </a:solidFill>
              <a:latin typeface="Open Sauce"/>
              <a:ea typeface="Open Sauce"/>
              <a:cs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1513682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166774" y="1028700"/>
            <a:ext cx="687629" cy="0"/>
          </a:xfrm>
          <a:prstGeom prst="line">
            <a:avLst/>
          </a:prstGeom>
          <a:ln w="76200">
            <a:solidFill>
              <a:srgbClr val="000000"/>
            </a:solidFill>
          </a:ln>
        </p:spPr>
      </p:cxnSp>
      <p:sp>
        <p:nvSpPr>
          <p:cNvPr id="4" name="Title"/>
          <p:cNvSpPr txBox="1"/>
          <p:nvPr/>
        </p:nvSpPr>
        <p:spPr>
          <a:xfrm>
            <a:off x="1166774" y="1234440"/>
            <a:ext cx="15947136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400" i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1166774" y="9144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i="0" spc="159">
                <a:solidFill>
                  <a:srgbClr val="767574"/>
                </a:solidFill>
                <a:latin typeface="Open Sauce"/>
                <a:ea typeface="Open Sauce"/>
                <a:cs typeface="Open Sauce"/>
                <a:sym typeface="Open Sauce"/>
              </a:rPr>
              <a:t>PRESENTED BY WANG GAOYANG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6774" y="2543354"/>
            <a:ext cx="4747692" cy="4838269"/>
          </a:xfrm>
          <a:prstGeom prst="roundRect">
            <a:avLst>
              <a:gd name="adj" fmla="val 8988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66774" y="2514600"/>
            <a:ext cx="4754880" cy="1143000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6774" y="3246120"/>
            <a:ext cx="4754880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32534" y="2715768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i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2654" y="271576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i="0">
                <a:solidFill>
                  <a:srgbClr val="FFFFFF"/>
                </a:solidFill>
                <a:latin typeface="DM Serif Display"/>
                <a:ea typeface="Open Sauce Bold"/>
                <a:cs typeface="Open Sauce Bold"/>
                <a:sym typeface="Open Sauce Bold"/>
              </a:rPr>
              <a:t>What we found</a:t>
            </a:r>
            <a:endParaRPr lang="en-US" sz="2600" i="0">
              <a:solidFill>
                <a:srgbClr val="FFFFFF"/>
              </a:solidFill>
              <a:latin typeface="DM Serif Display"/>
              <a:ea typeface="Open Sauce Bold"/>
              <a:cs typeface="Open Sauce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88760" y="3841053"/>
            <a:ext cx="4368416" cy="30153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2000" i="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Trust depends on </a:t>
            </a:r>
            <a:r>
              <a:rPr lang="en-US" sz="2000">
                <a:solidFill>
                  <a:srgbClr val="000000"/>
                </a:solidFill>
                <a:latin typeface="DM Serif Display"/>
                <a:ea typeface="+mn-lt"/>
                <a:cs typeface="+mn-lt"/>
                <a:sym typeface="Open Sauce"/>
              </a:rPr>
              <a:t>both country level and individual factors</a:t>
            </a:r>
            <a:r>
              <a:rPr lang="en-US" sz="2000" i="0">
                <a:solidFill>
                  <a:srgbClr val="000000"/>
                </a:solidFill>
                <a:latin typeface="DM Serif Display"/>
                <a:ea typeface="+mn-lt"/>
                <a:cs typeface="+mn-lt"/>
                <a:sym typeface="Open Sauce"/>
              </a:rPr>
              <a:t>, </a:t>
            </a:r>
            <a:r>
              <a:rPr lang="en-US" sz="2000">
                <a:solidFill>
                  <a:srgbClr val="000000"/>
                </a:solidFill>
                <a:latin typeface="DM Serif Display"/>
                <a:ea typeface="+mn-lt"/>
                <a:cs typeface="+mn-lt"/>
                <a:sym typeface="Open Sauce"/>
              </a:rPr>
              <a:t>including users background, </a:t>
            </a:r>
            <a:r>
              <a:rPr lang="en-US" sz="2000" i="0">
                <a:solidFill>
                  <a:srgbClr val="000000"/>
                </a:solidFill>
                <a:latin typeface="DM Serif Display"/>
                <a:ea typeface="+mn-lt"/>
                <a:cs typeface="+mn-lt"/>
                <a:sym typeface="Open Sauce"/>
              </a:rPr>
              <a:t>how high the stakes are and how </a:t>
            </a:r>
            <a:r>
              <a:rPr lang="en-US" sz="2000">
                <a:solidFill>
                  <a:srgbClr val="000000"/>
                </a:solidFill>
                <a:latin typeface="DM Serif Display"/>
                <a:ea typeface="+mn-lt"/>
                <a:cs typeface="+mn-lt"/>
                <a:sym typeface="Open Sauce"/>
              </a:rPr>
              <a:t>response </a:t>
            </a:r>
            <a:r>
              <a:rPr lang="en-US" sz="2000" i="0">
                <a:solidFill>
                  <a:srgbClr val="000000"/>
                </a:solidFill>
                <a:latin typeface="DM Serif Display"/>
                <a:ea typeface="+mn-lt"/>
                <a:cs typeface="+mn-lt"/>
                <a:sym typeface="Open Sauce"/>
              </a:rPr>
              <a:t>is presented</a:t>
            </a:r>
            <a:r>
              <a:rPr lang="en-US" sz="2000">
                <a:solidFill>
                  <a:srgbClr val="000000"/>
                </a:solidFill>
                <a:latin typeface="DM Serif Display"/>
                <a:ea typeface="+mn-lt"/>
                <a:cs typeface="+mn-lt"/>
                <a:sym typeface="Open Sauce"/>
              </a:rPr>
              <a:t>. </a:t>
            </a:r>
            <a:endParaRPr lang="en-US" sz="2000">
              <a:solidFill>
                <a:srgbClr val="000000"/>
              </a:solidFill>
              <a:latin typeface="DM Serif Display"/>
              <a:ea typeface="Open Sauce"/>
              <a:cs typeface="Open Sauce"/>
              <a:sym typeface="Open Sauce"/>
            </a:endParaRPr>
          </a:p>
          <a:p>
            <a:pPr>
              <a:lnSpc>
                <a:spcPct val="125000"/>
              </a:lnSpc>
            </a:pPr>
            <a:endParaRPr lang="en-US" sz="2000">
              <a:solidFill>
                <a:srgbClr val="000000"/>
              </a:solidFill>
              <a:latin typeface="DM Serif Display"/>
              <a:ea typeface="Open Sauce"/>
              <a:cs typeface="Open Sauce"/>
              <a:sym typeface="Open Sauce"/>
            </a:endParaRPr>
          </a:p>
          <a:p>
            <a:pPr>
              <a:lnSpc>
                <a:spcPct val="125000"/>
              </a:lnSpc>
            </a:pPr>
            <a:r>
              <a:rPr lang="en-US" sz="200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Trust </a:t>
            </a:r>
            <a:r>
              <a:rPr sz="2000" i="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falls once users detect an error.</a:t>
            </a:r>
            <a:r>
              <a:rPr lang="en-US" sz="200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 Critical thinking and tech openness also play significant roles in trust drop. </a:t>
            </a:r>
            <a:endParaRPr lang="en-US" sz="2000" i="0">
              <a:solidFill>
                <a:srgbClr val="000000"/>
              </a:solidFill>
              <a:latin typeface="DM Serif Display"/>
              <a:ea typeface="Open Sauce"/>
              <a:cs typeface="Open Sauce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6049670" y="4256531"/>
            <a:ext cx="585216" cy="585216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34148" y="2528977"/>
            <a:ext cx="4740503" cy="4867023"/>
          </a:xfrm>
          <a:prstGeom prst="roundRect">
            <a:avLst>
              <a:gd name="adj" fmla="val 8988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62902" y="2514600"/>
            <a:ext cx="4711749" cy="1143000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62902" y="3246120"/>
            <a:ext cx="4711749" cy="45905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28662" y="2715768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i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8782" y="271576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i="0">
                <a:solidFill>
                  <a:srgbClr val="FFFFFF"/>
                </a:solidFill>
                <a:latin typeface="DM Serif Display"/>
                <a:ea typeface="Open Sauce Bold"/>
                <a:cs typeface="Open Sauce Bold"/>
                <a:sym typeface="Open Sauce Bold"/>
              </a:rPr>
              <a:t>What can be done</a:t>
            </a:r>
            <a:endParaRPr lang="en-US" sz="2600" i="0">
              <a:solidFill>
                <a:srgbClr val="FFFFFF"/>
              </a:solidFill>
              <a:latin typeface="DM Serif Display"/>
              <a:ea typeface="Open Sauce Bold"/>
              <a:cs typeface="Open Sauce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28662" y="3977639"/>
            <a:ext cx="4023360" cy="2468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200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Governments </a:t>
            </a:r>
            <a:r>
              <a:rPr lang="en-US" sz="2000" i="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and educators </a:t>
            </a:r>
            <a:r>
              <a:rPr lang="en-US" sz="200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should help build</a:t>
            </a:r>
            <a:r>
              <a:rPr lang="en-US" sz="2000" i="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 literacy and assurance</a:t>
            </a:r>
            <a:r>
              <a:rPr lang="en-US" sz="200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.</a:t>
            </a:r>
            <a:endParaRPr lang="en-US" sz="2000">
              <a:solidFill>
                <a:srgbClr val="000000"/>
              </a:solidFill>
              <a:latin typeface="DM Serif Display"/>
              <a:ea typeface="Open Sauce"/>
              <a:cs typeface="Open Sauce"/>
            </a:endParaRPr>
          </a:p>
          <a:p>
            <a:pPr>
              <a:lnSpc>
                <a:spcPct val="125000"/>
              </a:lnSpc>
            </a:pPr>
            <a:endParaRPr lang="en-US" sz="2000">
              <a:solidFill>
                <a:srgbClr val="000000"/>
              </a:solidFill>
              <a:latin typeface="DM Serif Display"/>
              <a:ea typeface="Open Sauce"/>
              <a:cs typeface="Open Sauce"/>
            </a:endParaRPr>
          </a:p>
          <a:p>
            <a:pPr>
              <a:lnSpc>
                <a:spcPct val="125000"/>
              </a:lnSpc>
            </a:pPr>
            <a:r>
              <a:rPr sz="2000" i="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AI developers </a:t>
            </a:r>
            <a:r>
              <a:rPr lang="en-US" sz="200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should ensure </a:t>
            </a:r>
            <a:r>
              <a:rPr sz="2000" i="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sources checkable, resist sycophancy and signal limits.</a:t>
            </a:r>
            <a:endParaRPr lang="en-US" sz="2000" i="0">
              <a:solidFill>
                <a:srgbClr val="000000"/>
              </a:solidFill>
              <a:latin typeface="DM Serif Display"/>
              <a:ea typeface="Open Sauce"/>
              <a:cs typeface="Open Sauce"/>
            </a:endParaRPr>
          </a:p>
        </p:txBody>
      </p:sp>
      <p:sp>
        <p:nvSpPr>
          <p:cNvPr id="20" name="Chevron 19"/>
          <p:cNvSpPr/>
          <p:nvPr/>
        </p:nvSpPr>
        <p:spPr>
          <a:xfrm>
            <a:off x="11645798" y="4256531"/>
            <a:ext cx="585216" cy="585216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359030" y="2521788"/>
            <a:ext cx="4589541" cy="4816703"/>
          </a:xfrm>
          <a:prstGeom prst="roundRect">
            <a:avLst>
              <a:gd name="adj" fmla="val 8988"/>
            </a:avLst>
          </a:prstGeom>
          <a:solidFill>
            <a:srgbClr val="F7F7F5"/>
          </a:solidFill>
          <a:ln w="25400">
            <a:solidFill>
              <a:srgbClr val="7A7A7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2359030" y="2514600"/>
            <a:ext cx="4589541" cy="1143000"/>
          </a:xfrm>
          <a:prstGeom prst="roundRect">
            <a:avLst>
              <a:gd name="adj" fmla="val 32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359030" y="3246120"/>
            <a:ext cx="4589541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724790" y="2715768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i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84910" y="271576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i="0">
                <a:solidFill>
                  <a:srgbClr val="FFFFFF"/>
                </a:solidFill>
                <a:latin typeface="DM Serif Display"/>
                <a:ea typeface="Open Sauce Bold"/>
                <a:cs typeface="Open Sauce Bold"/>
                <a:sym typeface="Open Sauce Bold"/>
              </a:rPr>
              <a:t>What comes next</a:t>
            </a:r>
            <a:endParaRPr lang="en-US" sz="2600" i="0">
              <a:solidFill>
                <a:srgbClr val="FFFFFF"/>
              </a:solidFill>
              <a:latin typeface="DM Serif Display"/>
              <a:ea typeface="Open Sauce Bold"/>
              <a:cs typeface="Open Sauce 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724790" y="3977639"/>
            <a:ext cx="4023360" cy="2468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2000" i="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Our data are observational and some may be synthetic. </a:t>
            </a:r>
            <a:endParaRPr lang="en-US" sz="2000">
              <a:solidFill>
                <a:srgbClr val="000000"/>
              </a:solidFill>
              <a:latin typeface="DM Serif Display"/>
              <a:ea typeface="Open Sauce"/>
              <a:cs typeface="Open Sauce"/>
              <a:sym typeface="Open Sauce"/>
            </a:endParaRPr>
          </a:p>
          <a:p>
            <a:pPr>
              <a:lnSpc>
                <a:spcPct val="125000"/>
              </a:lnSpc>
            </a:pPr>
            <a:endParaRPr lang="en-US" sz="2000">
              <a:solidFill>
                <a:srgbClr val="000000"/>
              </a:solidFill>
              <a:latin typeface="DM Serif Display"/>
              <a:ea typeface="Open Sauce"/>
              <a:cs typeface="Open Sauce"/>
              <a:sym typeface="Open Sauce"/>
            </a:endParaRPr>
          </a:p>
          <a:p>
            <a:pPr algn="l">
              <a:lnSpc>
                <a:spcPct val="125000"/>
              </a:lnSpc>
            </a:pPr>
            <a:r>
              <a:rPr sz="2000" i="0">
                <a:solidFill>
                  <a:srgbClr val="000000"/>
                </a:solidFill>
                <a:latin typeface="DM Serif Display"/>
                <a:ea typeface="Open Sauce"/>
                <a:cs typeface="Open Sauce"/>
                <a:sym typeface="Open Sauce"/>
              </a:rPr>
              <a:t>Test these proposals in controlled experiments, with data on trust, AI accuracy and checking together.</a:t>
            </a:r>
            <a:endParaRPr lang="en-US" sz="2000" i="0">
              <a:solidFill>
                <a:srgbClr val="000000"/>
              </a:solidFill>
              <a:latin typeface="DM Serif Display"/>
              <a:ea typeface="Open Sauce"/>
              <a:cs typeface="Open Sauc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817888-BF92-D67B-FD9B-A63F51CF73EA}"/>
              </a:ext>
            </a:extLst>
          </p:cNvPr>
          <p:cNvSpPr txBox="1"/>
          <p:nvPr/>
        </p:nvSpPr>
        <p:spPr>
          <a:xfrm>
            <a:off x="2178171" y="8040538"/>
            <a:ext cx="1493088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aseline="0">
                <a:latin typeface="DM Serif Display"/>
              </a:rPr>
              <a:t>"</a:t>
            </a:r>
            <a:r>
              <a:rPr lang="en-US" sz="3000">
                <a:latin typeface="DM Serif Display"/>
                <a:ea typeface="+mn-lt"/>
                <a:cs typeface="+mn-lt"/>
              </a:rPr>
              <a:t>Calibrated trust </a:t>
            </a:r>
            <a:r>
              <a:rPr lang="en-US" sz="3000" baseline="0">
                <a:latin typeface="DM Serif Display"/>
                <a:ea typeface="+mn-lt"/>
                <a:cs typeface="+mn-lt"/>
              </a:rPr>
              <a:t>is </a:t>
            </a:r>
            <a:r>
              <a:rPr lang="en-US" sz="3000">
                <a:latin typeface="DM Serif Display"/>
                <a:ea typeface="+mn-lt"/>
                <a:cs typeface="+mn-lt"/>
              </a:rPr>
              <a:t>built by users</a:t>
            </a:r>
            <a:r>
              <a:rPr lang="en-US" sz="3000" baseline="0">
                <a:latin typeface="DM Serif Display"/>
                <a:ea typeface="+mn-lt"/>
                <a:cs typeface="+mn-lt"/>
              </a:rPr>
              <a:t>, </a:t>
            </a:r>
            <a:r>
              <a:rPr lang="en-US" sz="3000">
                <a:latin typeface="DM Serif Display"/>
                <a:ea typeface="+mn-lt"/>
                <a:cs typeface="+mn-lt"/>
              </a:rPr>
              <a:t>institutions and </a:t>
            </a:r>
            <a:r>
              <a:rPr lang="en-US" sz="3000" baseline="0">
                <a:latin typeface="DM Serif Display"/>
                <a:ea typeface="+mn-lt"/>
                <a:cs typeface="+mn-lt"/>
              </a:rPr>
              <a:t>AI </a:t>
            </a:r>
            <a:r>
              <a:rPr lang="en-US" sz="3000">
                <a:latin typeface="DM Serif Display"/>
                <a:ea typeface="+mn-lt"/>
                <a:cs typeface="+mn-lt"/>
              </a:rPr>
              <a:t>developers together</a:t>
            </a:r>
            <a:r>
              <a:rPr lang="en-US" sz="3000" baseline="0">
                <a:latin typeface="DM Serif Display"/>
                <a:ea typeface="+mn-lt"/>
                <a:cs typeface="+mn-lt"/>
              </a:rPr>
              <a:t>.</a:t>
            </a:r>
            <a:r>
              <a:rPr lang="en-US" sz="3000" baseline="0">
                <a:latin typeface="DM Serif Display"/>
              </a:rPr>
              <a:t>"</a:t>
            </a:r>
            <a:r>
              <a:rPr sz="3000">
                <a:latin typeface="DM Serif Display"/>
                <a:ea typeface="DM Serif Display"/>
                <a:cs typeface="DM Serif Display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78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1784</Words>
  <Application>Microsoft Office PowerPoint</Application>
  <PresentationFormat>Custom</PresentationFormat>
  <Paragraphs>360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DM Serif Display</vt:lpstr>
      <vt:lpstr>Aptos Display</vt:lpstr>
      <vt:lpstr>Wingdings</vt:lpstr>
      <vt:lpstr>Calibri</vt:lpstr>
      <vt:lpstr>Open Sauce</vt:lpstr>
      <vt:lpstr>Open Sauce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Kavin</dc:creator>
  <cp:lastModifiedBy>Kavin Lertsattha</cp:lastModifiedBy>
  <cp:revision>2</cp:revision>
  <dcterms:created xsi:type="dcterms:W3CDTF">2006-08-16T00:00:00Z</dcterms:created>
  <dcterms:modified xsi:type="dcterms:W3CDTF">2026-10-14T07:31:32Z</dcterms:modified>
  <dc:identifier>DAHXsUaV-70</dc:identifier>
</cp:coreProperties>
</file>